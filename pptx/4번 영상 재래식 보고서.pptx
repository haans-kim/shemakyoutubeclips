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798" r:id="rId4"/>
  </p:sldMasterIdLst>
  <p:notesMasterIdLst>
    <p:notesMasterId r:id="rId7"/>
  </p:notesMasterIdLst>
  <p:handoutMasterIdLst>
    <p:handoutMasterId r:id="rId8"/>
  </p:handoutMasterIdLst>
  <p:sldIdLst>
    <p:sldId id="18647" r:id="rId5"/>
    <p:sldId id="2145707928" r:id="rId6"/>
  </p:sldIdLst>
  <p:sldSz cx="9906000" cy="6858000" type="A4"/>
  <p:notesSz cx="6735763" cy="9866313"/>
  <p:embeddedFontLst>
    <p:embeddedFont>
      <p:font typeface="Helvetica" panose="020B0604020202020204" pitchFamily="34" charset="0"/>
      <p:regular r:id="rId9"/>
      <p:bold r:id="rId10"/>
      <p:italic r:id="rId11"/>
      <p:boldItalic r:id="rId12"/>
    </p:embeddedFont>
    <p:embeddedFont>
      <p:font typeface="Helvetica75" panose="020B0600000101010101" charset="0"/>
      <p:bold r:id="rId13"/>
    </p:embeddedFont>
    <p:embeddedFont>
      <p:font typeface="HY견고딕" panose="02030600000101010101" pitchFamily="18" charset="-127"/>
      <p:regular r:id="rId14"/>
    </p:embeddedFont>
    <p:embeddedFont>
      <p:font typeface="나눔바른고딕" panose="020B0603020101020101" pitchFamily="50" charset="-127"/>
      <p:regular r:id="rId15"/>
      <p:bold r:id="rId16"/>
    </p:embeddedFont>
    <p:embeddedFont>
      <p:font typeface="맑은 고딕" panose="020B0503020000020004" pitchFamily="50" charset="-127"/>
      <p:regular r:id="rId17"/>
      <p:bold r:id="rId18"/>
    </p:embeddedFont>
  </p:embeddedFontLst>
  <p:defaultTextStyle>
    <a:defPPr>
      <a:defRPr lang="ko-KR"/>
    </a:defPPr>
    <a:lvl1pPr algn="l" rtl="0" fontAlgn="base" latinLnBrk="1">
      <a:lnSpc>
        <a:spcPct val="106000"/>
      </a:lnSpc>
      <a:spcBef>
        <a:spcPct val="50000"/>
      </a:spcBef>
      <a:spcAft>
        <a:spcPct val="0"/>
      </a:spcAft>
      <a:defRPr kumimoji="1" sz="13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fontAlgn="base" latinLnBrk="1">
      <a:lnSpc>
        <a:spcPct val="106000"/>
      </a:lnSpc>
      <a:spcBef>
        <a:spcPct val="50000"/>
      </a:spcBef>
      <a:spcAft>
        <a:spcPct val="0"/>
      </a:spcAft>
      <a:defRPr kumimoji="1" sz="13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fontAlgn="base" latinLnBrk="1">
      <a:lnSpc>
        <a:spcPct val="106000"/>
      </a:lnSpc>
      <a:spcBef>
        <a:spcPct val="50000"/>
      </a:spcBef>
      <a:spcAft>
        <a:spcPct val="0"/>
      </a:spcAft>
      <a:defRPr kumimoji="1" sz="13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fontAlgn="base" latinLnBrk="1">
      <a:lnSpc>
        <a:spcPct val="106000"/>
      </a:lnSpc>
      <a:spcBef>
        <a:spcPct val="50000"/>
      </a:spcBef>
      <a:spcAft>
        <a:spcPct val="0"/>
      </a:spcAft>
      <a:defRPr kumimoji="1" sz="13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fontAlgn="base" latinLnBrk="1">
      <a:lnSpc>
        <a:spcPct val="106000"/>
      </a:lnSpc>
      <a:spcBef>
        <a:spcPct val="50000"/>
      </a:spcBef>
      <a:spcAft>
        <a:spcPct val="0"/>
      </a:spcAft>
      <a:defRPr kumimoji="1" sz="13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kumimoji="1" sz="13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6pPr>
    <a:lvl7pPr marL="2743200" algn="l" defTabSz="914400" rtl="0" eaLnBrk="1" latinLnBrk="1" hangingPunct="1">
      <a:defRPr kumimoji="1" sz="13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7pPr>
    <a:lvl8pPr marL="3200400" algn="l" defTabSz="914400" rtl="0" eaLnBrk="1" latinLnBrk="1" hangingPunct="1">
      <a:defRPr kumimoji="1" sz="13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8pPr>
    <a:lvl9pPr marL="3657600" algn="l" defTabSz="914400" rtl="0" eaLnBrk="1" latinLnBrk="1" hangingPunct="1">
      <a:defRPr kumimoji="1" sz="13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9FD9566-FF00-4528-A2AC-7D02DBB5CE3D}">
          <p14:sldIdLst/>
        </p14:section>
        <p14:section name="1. 진단 개요" id="{DB6BBBCC-A131-4C5E-8A68-B8A63FD2D4D6}">
          <p14:sldIdLst>
            <p14:sldId id="18647"/>
          </p14:sldIdLst>
        </p14:section>
        <p14:section name="2-1. 진단 결과 Overview: 조직" id="{176DC95A-4A5D-45CC-B3E5-5ED29165F3AC}">
          <p14:sldIdLst>
            <p14:sldId id="2145707928"/>
          </p14:sldIdLst>
        </p14:section>
        <p14:section name="2-2. 진단 결과 Overview: 리더십" id="{2C4D0E90-386E-4629-BCE1-18CA3E344347}">
          <p14:sldIdLst/>
        </p14:section>
        <p14:section name="2-3. 진단 결과 Overview: AI" id="{B5BF70C8-8E21-467A-B19E-E7CA5CE55681}">
          <p14:sldIdLst/>
        </p14:section>
        <p14:section name="3-1. 영역별 결과: Survey 결과" id="{D9644597-26ED-4D1D-BE7F-EA3BCF8DC146}">
          <p14:sldIdLst/>
        </p14:section>
        <p14:section name="Appendix." id="{27B1148B-1C11-44CD-B457-DDE9BCF9C86D}">
          <p14:sldIdLst/>
        </p14:section>
        <p14:section name="임원별" id="{2B695CAD-0033-4D4F-80DF-E2AB65152144}">
          <p14:sldIdLst/>
        </p14:section>
      </p14:sectionLst>
    </p:ext>
    <p:ext uri="{EFAFB233-063F-42B5-8137-9DF3F51BA10A}">
      <p15:sldGuideLst xmlns:p15="http://schemas.microsoft.com/office/powerpoint/2012/main">
        <p15:guide id="2" pos="3097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9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FA984D9-BE95-6791-340C-5D2B0A08C122}" name="임정민" initials="정임" userId="S::jmim@insightgroup.co.kr::5b3e79ff-be52-45d6-96fc-c0a347d53dd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B4D1"/>
    <a:srgbClr val="B5D3E5"/>
    <a:srgbClr val="8AB9D5"/>
    <a:srgbClr val="FFF2CC"/>
    <a:srgbClr val="EDF3FA"/>
    <a:srgbClr val="FFFFFF"/>
    <a:srgbClr val="E4EEF7"/>
    <a:srgbClr val="F7F9FD"/>
    <a:srgbClr val="FFE699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27F5AD-BB7B-A564-1CBF-85B55F183FF6}" v="1" dt="2026-01-20T04:48:28.1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267" autoAdjust="0"/>
  </p:normalViewPr>
  <p:slideViewPr>
    <p:cSldViewPr snapToGrid="0">
      <p:cViewPr varScale="1">
        <p:scale>
          <a:sx n="88" d="100"/>
          <a:sy n="88" d="100"/>
        </p:scale>
        <p:origin x="448" y="56"/>
      </p:cViewPr>
      <p:guideLst>
        <p:guide pos="3097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09"/>
        <p:guide pos="212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customXml" Target="../customXml/item2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3.fntdata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font" Target="fonts/font7.fntdata"/><Relationship Id="rId23" Type="http://schemas.microsoft.com/office/2015/10/relationships/revisionInfo" Target="revisionInfo.xml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3"/>
            <a:ext cx="2919565" cy="493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72" tIns="45386" rIns="90772" bIns="45386" numCol="1" anchor="t" anchorCtr="0" compatLnSpc="1">
            <a:prstTxWarp prst="textNoShape">
              <a:avLst/>
            </a:prstTxWarp>
          </a:bodyPr>
          <a:lstStyle>
            <a:lvl1pPr defTabSz="875870" latinLnBrk="0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  <a:defRPr kumimoji="0"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6199" y="3"/>
            <a:ext cx="2919565" cy="493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72" tIns="45386" rIns="90772" bIns="45386" numCol="1" anchor="t" anchorCtr="0" compatLnSpc="1">
            <a:prstTxWarp prst="textNoShape">
              <a:avLst/>
            </a:prstTxWarp>
          </a:bodyPr>
          <a:lstStyle>
            <a:lvl1pPr algn="r" defTabSz="875870" latinLnBrk="0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  <a:defRPr kumimoji="0"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58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372446"/>
            <a:ext cx="2919565" cy="493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72" tIns="45386" rIns="90772" bIns="45386" numCol="1" anchor="b" anchorCtr="0" compatLnSpc="1">
            <a:prstTxWarp prst="textNoShape">
              <a:avLst/>
            </a:prstTxWarp>
          </a:bodyPr>
          <a:lstStyle>
            <a:lvl1pPr defTabSz="875870" latinLnBrk="0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  <a:defRPr kumimoji="0"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58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6199" y="9372446"/>
            <a:ext cx="2919565" cy="493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72" tIns="45386" rIns="90772" bIns="45386" numCol="1" anchor="b" anchorCtr="0" compatLnSpc="1">
            <a:prstTxWarp prst="textNoShape">
              <a:avLst/>
            </a:prstTxWarp>
          </a:bodyPr>
          <a:lstStyle>
            <a:lvl1pPr algn="r" defTabSz="875870" latinLnBrk="0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  <a:defRPr kumimoji="0" sz="1200">
                <a:latin typeface="Arial" pitchFamily="34" charset="0"/>
              </a:defRPr>
            </a:lvl1pPr>
          </a:lstStyle>
          <a:p>
            <a:pPr>
              <a:defRPr/>
            </a:pPr>
            <a:fld id="{2C42AA04-3912-4D5B-917F-6ECE599F1AD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747704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3"/>
            <a:ext cx="2919565" cy="493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72" tIns="45386" rIns="90772" bIns="45386" numCol="1" anchor="t" anchorCtr="0" compatLnSpc="1">
            <a:prstTxWarp prst="textNoShape">
              <a:avLst/>
            </a:prstTxWarp>
          </a:bodyPr>
          <a:lstStyle>
            <a:lvl1pPr defTabSz="875870" latinLnBrk="0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  <a:defRPr kumimoji="0"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6199" y="3"/>
            <a:ext cx="2919565" cy="493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72" tIns="45386" rIns="90772" bIns="45386" numCol="1" anchor="t" anchorCtr="0" compatLnSpc="1">
            <a:prstTxWarp prst="textNoShape">
              <a:avLst/>
            </a:prstTxWarp>
          </a:bodyPr>
          <a:lstStyle>
            <a:lvl1pPr algn="r" defTabSz="875870" latinLnBrk="0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  <a:defRPr kumimoji="0"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01675" y="736600"/>
            <a:ext cx="5345113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6637" y="4689381"/>
            <a:ext cx="4942496" cy="4440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72" tIns="45386" rIns="90772" bIns="453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372446"/>
            <a:ext cx="2919565" cy="493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72" tIns="45386" rIns="90772" bIns="45386" numCol="1" anchor="b" anchorCtr="0" compatLnSpc="1">
            <a:prstTxWarp prst="textNoShape">
              <a:avLst/>
            </a:prstTxWarp>
          </a:bodyPr>
          <a:lstStyle>
            <a:lvl1pPr defTabSz="875870" latinLnBrk="0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  <a:defRPr kumimoji="0"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6199" y="9372446"/>
            <a:ext cx="2919565" cy="493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72" tIns="45386" rIns="90772" bIns="45386" numCol="1" anchor="b" anchorCtr="0" compatLnSpc="1">
            <a:prstTxWarp prst="textNoShape">
              <a:avLst/>
            </a:prstTxWarp>
          </a:bodyPr>
          <a:lstStyle>
            <a:lvl1pPr algn="r" defTabSz="875870" latinLnBrk="0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  <a:defRPr kumimoji="0" sz="1200">
                <a:latin typeface="Arial" pitchFamily="34" charset="0"/>
              </a:defRPr>
            </a:lvl1pPr>
          </a:lstStyle>
          <a:p>
            <a:pPr>
              <a:defRPr/>
            </a:pPr>
            <a:fld id="{33B61B84-2D01-432D-B7A3-51750462982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236297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67C1D1B-A8D8-4C3F-AEC5-5E27A20A055F}"/>
              </a:ext>
            </a:extLst>
          </p:cNvPr>
          <p:cNvSpPr/>
          <p:nvPr userDrawn="1"/>
        </p:nvSpPr>
        <p:spPr>
          <a:xfrm>
            <a:off x="-15000" y="0"/>
            <a:ext cx="9936000" cy="1160458"/>
          </a:xfrm>
          <a:prstGeom prst="rect">
            <a:avLst/>
          </a:prstGeom>
          <a:solidFill>
            <a:srgbClr val="31415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>
              <a:lnSpc>
                <a:spcPts val="1600"/>
              </a:lnSpc>
              <a:spcBef>
                <a:spcPts val="600"/>
              </a:spcBef>
            </a:pPr>
            <a:endParaRPr lang="ko-KR" altLang="en-US" b="1" kern="0" err="1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텍스트 개체 틀 9">
            <a:extLst>
              <a:ext uri="{FF2B5EF4-FFF2-40B4-BE49-F238E27FC236}">
                <a16:creationId xmlns:a16="http://schemas.microsoft.com/office/drawing/2014/main" id="{4C441BE6-3F3D-46B1-A552-27F860C82B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148" y="2452008"/>
            <a:ext cx="7553661" cy="422392"/>
          </a:xfrm>
        </p:spPr>
        <p:txBody>
          <a:bodyPr>
            <a:normAutofit/>
          </a:bodyPr>
          <a:lstStyle>
            <a:lvl1pPr marL="0" indent="0">
              <a:buNone/>
              <a:defRPr kumimoji="1" lang="ko-KR" altLang="en-US" sz="1800" kern="0" spc="0" baseline="0" dirty="0">
                <a:solidFill>
                  <a:prstClr val="black">
                    <a:lumMod val="50000"/>
                    <a:lumOff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1pPr>
          </a:lstStyle>
          <a:p>
            <a:pPr lvl="0" algn="l" rtl="0" fontAlgn="base" latinLnBrk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ko-KR"/>
              <a:t>Subject</a:t>
            </a:r>
            <a:r>
              <a:rPr lang="ko-KR" altLang="en-US"/>
              <a:t> </a:t>
            </a:r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24" name="텍스트 개체 틀 9">
            <a:extLst>
              <a:ext uri="{FF2B5EF4-FFF2-40B4-BE49-F238E27FC236}">
                <a16:creationId xmlns:a16="http://schemas.microsoft.com/office/drawing/2014/main" id="{A26080AA-268A-4ECB-92A7-5552321858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8676" y="2830965"/>
            <a:ext cx="7553661" cy="729023"/>
          </a:xfrm>
        </p:spPr>
        <p:txBody>
          <a:bodyPr>
            <a:noAutofit/>
          </a:bodyPr>
          <a:lstStyle>
            <a:lvl1pPr marL="0" indent="0" algn="l" rtl="0" fontAlgn="base" latinLnBrk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itchFamily="2" charset="2"/>
              <a:buNone/>
              <a:defRPr kumimoji="1" lang="ko-KR" altLang="en-US" sz="3200" kern="0" spc="0" baseline="0" dirty="0">
                <a:solidFill>
                  <a:srgbClr val="000000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defRPr>
            </a:lvl1pPr>
          </a:lstStyle>
          <a:p>
            <a:pPr lvl="0" algn="l" rtl="0" fontAlgn="base" latinLnBrk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ko-KR"/>
              <a:t>Project Title</a:t>
            </a:r>
            <a:endParaRPr lang="ko-KR" altLang="en-US"/>
          </a:p>
        </p:txBody>
      </p:sp>
      <p:sp>
        <p:nvSpPr>
          <p:cNvPr id="27" name="텍스트 개체 틀 9">
            <a:extLst>
              <a:ext uri="{FF2B5EF4-FFF2-40B4-BE49-F238E27FC236}">
                <a16:creationId xmlns:a16="http://schemas.microsoft.com/office/drawing/2014/main" id="{61758A88-BB71-4AD6-9FDC-F648B796D0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6384" y="3797449"/>
            <a:ext cx="7553661" cy="422392"/>
          </a:xfrm>
        </p:spPr>
        <p:txBody>
          <a:bodyPr>
            <a:normAutofit/>
          </a:bodyPr>
          <a:lstStyle>
            <a:lvl1pPr marL="0" indent="0" algn="l" rtl="0" fontAlgn="base" latinLnBrk="0">
              <a:lnSpc>
                <a:spcPct val="14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Font typeface="Wingdings" pitchFamily="2" charset="2"/>
              <a:buNone/>
              <a:defRPr kumimoji="1" lang="ko-KR" altLang="en-US" sz="2000" b="1" kern="0" spc="0" baseline="0" dirty="0">
                <a:solidFill>
                  <a:srgbClr val="C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1pPr>
          </a:lstStyle>
          <a:p>
            <a:pPr lvl="0" algn="l" rtl="0" fontAlgn="base" latinLnBrk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ko-KR"/>
              <a:t>Report</a:t>
            </a:r>
            <a:r>
              <a:rPr lang="ko-KR" altLang="en-US"/>
              <a:t> </a:t>
            </a:r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29" name="텍스트 개체 틀 9">
            <a:extLst>
              <a:ext uri="{FF2B5EF4-FFF2-40B4-BE49-F238E27FC236}">
                <a16:creationId xmlns:a16="http://schemas.microsoft.com/office/drawing/2014/main" id="{BA955434-984E-4A8C-A223-8612C2C1C2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6384" y="4905429"/>
            <a:ext cx="7553661" cy="422392"/>
          </a:xfrm>
        </p:spPr>
        <p:txBody>
          <a:bodyPr>
            <a:normAutofit/>
          </a:bodyPr>
          <a:lstStyle>
            <a:lvl1pPr marL="0" indent="0" algn="l" rtl="0" fontAlgn="base" latinLnBrk="0">
              <a:lnSpc>
                <a:spcPct val="14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Font typeface="Wingdings" pitchFamily="2" charset="2"/>
              <a:buNone/>
              <a:defRPr kumimoji="1" lang="ko-KR" altLang="en-US" sz="1800" b="1" kern="0" spc="0" baseline="0" dirty="0" smtClean="0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1pPr>
          </a:lstStyle>
          <a:p>
            <a:pPr lvl="0" algn="l" rtl="0" fontAlgn="base" latinLnBrk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ko-KR"/>
              <a:t>(Year). (Month)</a:t>
            </a:r>
            <a:endParaRPr lang="ko-KR" altLang="en-US"/>
          </a:p>
        </p:txBody>
      </p:sp>
      <p:sp>
        <p:nvSpPr>
          <p:cNvPr id="36" name="그림 개체 틀 13">
            <a:extLst>
              <a:ext uri="{FF2B5EF4-FFF2-40B4-BE49-F238E27FC236}">
                <a16:creationId xmlns:a16="http://schemas.microsoft.com/office/drawing/2014/main" id="{B1CFE8DA-1ACA-41A2-9ED0-C23E9D4233B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0259" y="1269507"/>
            <a:ext cx="3926012" cy="1099933"/>
          </a:xfrm>
        </p:spPr>
        <p:txBody>
          <a:bodyPr/>
          <a:lstStyle>
            <a:lvl1pPr marL="0" indent="0" algn="ctr">
              <a:buNone/>
              <a:defRPr spc="0" baseline="0"/>
            </a:lvl1pPr>
          </a:lstStyle>
          <a:p>
            <a:r>
              <a:rPr lang="en-US" altLang="ko-KR"/>
              <a:t>Logo</a:t>
            </a:r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CC03CEE-529C-4866-9CF6-4374FDD5A1E2}"/>
              </a:ext>
            </a:extLst>
          </p:cNvPr>
          <p:cNvGrpSpPr/>
          <p:nvPr userDrawn="1"/>
        </p:nvGrpSpPr>
        <p:grpSpPr>
          <a:xfrm>
            <a:off x="-15000" y="5697542"/>
            <a:ext cx="9936000" cy="1160458"/>
            <a:chOff x="9929470" y="5697543"/>
            <a:chExt cx="9936000" cy="116045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0D5ABDB5-B342-4221-8D53-BC4137EC2EDE}"/>
                </a:ext>
              </a:extLst>
            </p:cNvPr>
            <p:cNvSpPr/>
            <p:nvPr userDrawn="1"/>
          </p:nvSpPr>
          <p:spPr>
            <a:xfrm>
              <a:off x="9929470" y="5697543"/>
              <a:ext cx="9936000" cy="1160458"/>
            </a:xfrm>
            <a:prstGeom prst="rect">
              <a:avLst/>
            </a:prstGeom>
            <a:solidFill>
              <a:srgbClr val="314152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 latinLnBrk="0">
                <a:lnSpc>
                  <a:spcPts val="1600"/>
                </a:lnSpc>
                <a:spcBef>
                  <a:spcPts val="600"/>
                </a:spcBef>
              </a:pPr>
              <a:endParaRPr lang="ko-KR" altLang="en-US" b="1" kern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1DE26A4-302A-4803-8237-91D32E8EF09A}"/>
                </a:ext>
              </a:extLst>
            </p:cNvPr>
            <p:cNvSpPr txBox="1"/>
            <p:nvPr userDrawn="1"/>
          </p:nvSpPr>
          <p:spPr>
            <a:xfrm>
              <a:off x="10023958" y="6498165"/>
              <a:ext cx="2993856" cy="261610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marL="0" indent="0" algn="l" latinLnBrk="0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</a:pPr>
              <a:r>
                <a:rPr lang="en-US" altLang="ko-KR" sz="1050" b="1">
                  <a:solidFill>
                    <a:schemeClr val="bg1"/>
                  </a:solidFill>
                  <a:latin typeface="Helvetica75" panose="020B0800000000000000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All</a:t>
              </a:r>
              <a:r>
                <a:rPr lang="ko-KR" altLang="en-US" sz="1050" b="1">
                  <a:solidFill>
                    <a:schemeClr val="bg1"/>
                  </a:solidFill>
                  <a:latin typeface="Helvetica75" panose="020B0800000000000000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 </a:t>
              </a:r>
              <a:r>
                <a:rPr lang="en-US" altLang="ko-KR" sz="1050" b="1">
                  <a:solidFill>
                    <a:schemeClr val="bg1"/>
                  </a:solidFill>
                  <a:latin typeface="Helvetica75" panose="020B0800000000000000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rights</a:t>
              </a:r>
              <a:r>
                <a:rPr lang="ko-KR" altLang="en-US" sz="1050" b="1">
                  <a:solidFill>
                    <a:schemeClr val="bg1"/>
                  </a:solidFill>
                  <a:latin typeface="Helvetica75" panose="020B0800000000000000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 </a:t>
              </a:r>
              <a:r>
                <a:rPr lang="en-US" altLang="ko-KR" sz="1050" b="1">
                  <a:solidFill>
                    <a:schemeClr val="bg1"/>
                  </a:solidFill>
                  <a:latin typeface="Helvetica75" panose="020B0800000000000000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reserved</a:t>
              </a:r>
              <a:r>
                <a:rPr lang="ko-KR" altLang="en-US" sz="1050" b="1">
                  <a:solidFill>
                    <a:schemeClr val="bg1"/>
                  </a:solidFill>
                  <a:latin typeface="Helvetica75" panose="020B0800000000000000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 </a:t>
              </a:r>
              <a:r>
                <a:rPr lang="en-US" altLang="ko-KR" sz="1050" b="1">
                  <a:solidFill>
                    <a:schemeClr val="bg1"/>
                  </a:solidFill>
                  <a:latin typeface="Helvetica75" panose="020B0800000000000000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by</a:t>
              </a:r>
              <a:r>
                <a:rPr lang="ko-KR" altLang="en-US" sz="1050" b="1">
                  <a:solidFill>
                    <a:schemeClr val="bg1"/>
                  </a:solidFill>
                  <a:latin typeface="Helvetica75" panose="020B0800000000000000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 </a:t>
              </a:r>
              <a:r>
                <a:rPr lang="en-US" altLang="ko-KR" sz="1050" b="1">
                  <a:solidFill>
                    <a:schemeClr val="bg1"/>
                  </a:solidFill>
                  <a:latin typeface="Helvetica75" panose="020B0800000000000000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Insight </a:t>
              </a:r>
              <a:r>
                <a:rPr lang="en-US" altLang="ko-KR" sz="1050" b="1">
                  <a:solidFill>
                    <a:srgbClr val="FFFFFF"/>
                  </a:solidFill>
                  <a:latin typeface="Helvetica75" panose="020B0800000000000000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Group</a:t>
              </a:r>
              <a:endParaRPr lang="ko-KR" altLang="en-US" sz="1050" b="1">
                <a:solidFill>
                  <a:srgbClr val="FFFFFF"/>
                </a:solidFill>
                <a:latin typeface="Helvetica75" panose="020B0800000000000000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078709B-2825-4A3E-B680-D6D302C8CE66}"/>
                </a:ext>
              </a:extLst>
            </p:cNvPr>
            <p:cNvSpPr txBox="1"/>
            <p:nvPr userDrawn="1"/>
          </p:nvSpPr>
          <p:spPr>
            <a:xfrm>
              <a:off x="17665714" y="5927937"/>
              <a:ext cx="2184756" cy="741678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marL="0" indent="0" algn="l" latinLnBrk="0">
                <a:lnSpc>
                  <a:spcPct val="120000"/>
                </a:lnSpc>
                <a:spcBef>
                  <a:spcPts val="0"/>
                </a:spcBef>
                <a:buFont typeface="Arial" panose="020B0604020202020204" pitchFamily="34" charset="0"/>
                <a:buNone/>
              </a:pPr>
              <a:r>
                <a:rPr lang="en-US" altLang="ko-KR" sz="900" b="0">
                  <a:solidFill>
                    <a:schemeClr val="bg1"/>
                  </a:solidFill>
                  <a:latin typeface="Helvetica" panose="020B0604020202030204" pitchFamily="34" charset="0"/>
                  <a:ea typeface="나눔바른고딕" panose="020B0603020101020101" pitchFamily="50" charset="-127"/>
                </a:rPr>
                <a:t>6F, Kranz B/D, 38 </a:t>
              </a:r>
              <a:r>
                <a:rPr lang="en-US" altLang="ko-KR" sz="900" b="0" err="1">
                  <a:solidFill>
                    <a:schemeClr val="bg1"/>
                  </a:solidFill>
                  <a:latin typeface="Helvetica" panose="020B0604020202030204" pitchFamily="34" charset="0"/>
                  <a:ea typeface="나눔바른고딕" panose="020B0603020101020101" pitchFamily="50" charset="-127"/>
                </a:rPr>
                <a:t>Seocho-daero</a:t>
              </a:r>
              <a:r>
                <a:rPr lang="en-US" altLang="ko-KR" sz="900" b="0">
                  <a:solidFill>
                    <a:schemeClr val="bg1"/>
                  </a:solidFill>
                  <a:latin typeface="Helvetica" panose="020B0604020202030204" pitchFamily="34" charset="0"/>
                  <a:ea typeface="나눔바른고딕" panose="020B0603020101020101" pitchFamily="50" charset="-127"/>
                </a:rPr>
                <a:t> 52-gil, </a:t>
              </a:r>
              <a:r>
                <a:rPr lang="en-US" altLang="ko-KR" sz="900" b="0" err="1">
                  <a:solidFill>
                    <a:schemeClr val="bg1"/>
                  </a:solidFill>
                  <a:latin typeface="Helvetica" panose="020B0604020202030204" pitchFamily="34" charset="0"/>
                  <a:ea typeface="나눔바른고딕" panose="020B0603020101020101" pitchFamily="50" charset="-127"/>
                </a:rPr>
                <a:t>Seocho-gu</a:t>
              </a:r>
              <a:r>
                <a:rPr lang="en-US" altLang="ko-KR" sz="900" b="0">
                  <a:solidFill>
                    <a:schemeClr val="bg1"/>
                  </a:solidFill>
                  <a:latin typeface="Helvetica" panose="020B0604020202030204" pitchFamily="34" charset="0"/>
                  <a:ea typeface="나눔바른고딕" panose="020B0603020101020101" pitchFamily="50" charset="-127"/>
                </a:rPr>
                <a:t>, Seoul, Republic of Korea</a:t>
              </a:r>
            </a:p>
            <a:p>
              <a:pPr marL="0" indent="0" algn="l" latinLnBrk="0">
                <a:lnSpc>
                  <a:spcPct val="120000"/>
                </a:lnSpc>
                <a:spcBef>
                  <a:spcPts val="0"/>
                </a:spcBef>
                <a:buFont typeface="Arial" panose="020B0604020202020204" pitchFamily="34" charset="0"/>
                <a:buNone/>
              </a:pPr>
              <a:r>
                <a:rPr lang="en-US" altLang="ko-KR" sz="900" b="0">
                  <a:solidFill>
                    <a:schemeClr val="bg1"/>
                  </a:solidFill>
                  <a:latin typeface="Helvetica" panose="020B0604020202030204" pitchFamily="34" charset="0"/>
                  <a:ea typeface="나눔바른고딕" panose="020B0603020101020101" pitchFamily="50" charset="-127"/>
                </a:rPr>
                <a:t>Tel. +82.2.3404.9500</a:t>
              </a:r>
            </a:p>
            <a:p>
              <a:pPr marL="0" indent="0" algn="l" latinLnBrk="0">
                <a:lnSpc>
                  <a:spcPct val="120000"/>
                </a:lnSpc>
                <a:spcBef>
                  <a:spcPts val="0"/>
                </a:spcBef>
                <a:buFont typeface="Arial" panose="020B0604020202020204" pitchFamily="34" charset="0"/>
                <a:buNone/>
              </a:pPr>
              <a:r>
                <a:rPr lang="en-US" altLang="ko-KR" sz="900" b="0">
                  <a:solidFill>
                    <a:schemeClr val="bg1"/>
                  </a:solidFill>
                  <a:latin typeface="Helvetica" panose="020B0604020202030204" pitchFamily="34" charset="0"/>
                  <a:ea typeface="나눔바른고딕" panose="020B0603020101020101" pitchFamily="50" charset="-127"/>
                </a:rPr>
                <a:t>www.insightgroup.co.kr</a:t>
              </a:r>
              <a:endParaRPr lang="ko-KR" altLang="en-US" sz="900" b="0">
                <a:solidFill>
                  <a:schemeClr val="bg1"/>
                </a:solidFill>
                <a:latin typeface="Helvetica" panose="020B0604020202030204" pitchFamily="34" charset="0"/>
                <a:ea typeface="나눔바른고딕" panose="020B0603020101020101" pitchFamily="50" charset="-127"/>
              </a:endParaRPr>
            </a:p>
          </p:txBody>
        </p:sp>
      </p:grpSp>
      <p:pic>
        <p:nvPicPr>
          <p:cNvPr id="20" name="그림 19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D96D22BC-6A0E-4452-9CF8-C622D0E07A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4259" y="281989"/>
            <a:ext cx="1615863" cy="409465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C173566F-AB69-4227-BF3B-54A694DFD45F}"/>
              </a:ext>
            </a:extLst>
          </p:cNvPr>
          <p:cNvSpPr/>
          <p:nvPr userDrawn="1"/>
        </p:nvSpPr>
        <p:spPr>
          <a:xfrm>
            <a:off x="7732502" y="605543"/>
            <a:ext cx="2379376" cy="26599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>
              <a:lnSpc>
                <a:spcPts val="1600"/>
              </a:lnSpc>
              <a:spcBef>
                <a:spcPts val="600"/>
              </a:spcBef>
            </a:pPr>
            <a:r>
              <a:rPr lang="en-US" altLang="ko-KR" sz="900" b="1" kern="0" spc="30" baseline="0">
                <a:solidFill>
                  <a:schemeClr val="accent5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Right People, Best Performance</a:t>
            </a:r>
            <a:endParaRPr lang="ko-KR" altLang="en-US" sz="900" b="1" kern="0" spc="30" baseline="0" err="1">
              <a:solidFill>
                <a:schemeClr val="accent5"/>
              </a:solidFill>
              <a:latin typeface="Calibri" panose="020F0502020204030204" pitchFamily="34" charset="0"/>
              <a:ea typeface="HY견고딕" panose="02030600000101010101" pitchFamily="18" charset="-127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697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5A444D5-87BA-4179-8B51-F3A1FF1F1C03}"/>
              </a:ext>
            </a:extLst>
          </p:cNvPr>
          <p:cNvSpPr/>
          <p:nvPr userDrawn="1"/>
        </p:nvSpPr>
        <p:spPr bwMode="auto">
          <a:xfrm>
            <a:off x="0" y="1210712"/>
            <a:ext cx="2021839" cy="5647288"/>
          </a:xfrm>
          <a:prstGeom prst="rect">
            <a:avLst/>
          </a:prstGeom>
          <a:solidFill>
            <a:schemeClr val="accent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36000" rIns="54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fontAlgn="ctr" latinLnBrk="0">
              <a:lnSpc>
                <a:spcPct val="100000"/>
              </a:lnSpc>
              <a:spcBef>
                <a:spcPct val="30000"/>
              </a:spcBef>
              <a:buClr>
                <a:srgbClr val="000000"/>
              </a:buClr>
            </a:pPr>
            <a:endParaRPr kumimoji="0" lang="ko-KR" altLang="en-US" sz="1200" kern="0" spc="-1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A2F135D-A4CB-438A-883C-0094983DEE68}"/>
              </a:ext>
            </a:extLst>
          </p:cNvPr>
          <p:cNvSpPr/>
          <p:nvPr userDrawn="1"/>
        </p:nvSpPr>
        <p:spPr bwMode="auto">
          <a:xfrm>
            <a:off x="0" y="-2888"/>
            <a:ext cx="2021839" cy="1233920"/>
          </a:xfrm>
          <a:prstGeom prst="rect">
            <a:avLst/>
          </a:prstGeom>
          <a:solidFill>
            <a:schemeClr val="accent2">
              <a:lumMod val="2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36000" rIns="54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fontAlgn="ctr" latinLnBrk="0">
              <a:lnSpc>
                <a:spcPct val="100000"/>
              </a:lnSpc>
              <a:spcBef>
                <a:spcPct val="30000"/>
              </a:spcBef>
              <a:buClr>
                <a:srgbClr val="000000"/>
              </a:buClr>
              <a:defRPr/>
            </a:pPr>
            <a:endParaRPr kumimoji="0" lang="ko-KR" altLang="en-US" sz="1200" kern="0" spc="-1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2E0D6BB8-82B0-478C-9037-1FB10BBEA4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73265" y="289034"/>
            <a:ext cx="1453936" cy="678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3333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36000" bIns="45720" numCol="1" anchor="t" anchorCtr="0" compatLnSpc="1">
            <a:prstTxWarp prst="textNoShape">
              <a:avLst/>
            </a:prstTxWarp>
            <a:spAutoFit/>
          </a:bodyPr>
          <a:lstStyle/>
          <a:p>
            <a:pPr latinLnBrk="0">
              <a:lnSpc>
                <a:spcPts val="1800"/>
              </a:lnSpc>
              <a:spcBef>
                <a:spcPts val="700"/>
              </a:spcBef>
              <a:buClr>
                <a:srgbClr val="000000"/>
              </a:buClr>
              <a:buSzPts val="1200"/>
              <a:defRPr/>
            </a:pPr>
            <a:r>
              <a:rPr kumimoji="0" lang="en-US" altLang="ko-KR" sz="1600" b="1" kern="0">
                <a:solidFill>
                  <a:srgbClr val="FFFFFF"/>
                </a:solidFill>
                <a:latin typeface="+mn-ea"/>
                <a:ea typeface="+mn-ea"/>
                <a:cs typeface="Arial" panose="020B0604020202020204" pitchFamily="34" charset="0"/>
              </a:rPr>
              <a:t>Table of</a:t>
            </a:r>
          </a:p>
          <a:p>
            <a:pPr latinLnBrk="0">
              <a:lnSpc>
                <a:spcPts val="1800"/>
              </a:lnSpc>
              <a:spcBef>
                <a:spcPts val="700"/>
              </a:spcBef>
              <a:buClr>
                <a:srgbClr val="000000"/>
              </a:buClr>
              <a:buSzPts val="1200"/>
              <a:defRPr/>
            </a:pPr>
            <a:r>
              <a:rPr kumimoji="0" lang="en-US" altLang="ko-KR" sz="2400" b="1" kern="0"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  <a:cs typeface="Arial" panose="020B0604020202020204" pitchFamily="34" charset="0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7234097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39337" y="496049"/>
            <a:ext cx="9614263" cy="728143"/>
          </a:xfrm>
        </p:spPr>
        <p:txBody>
          <a:bodyPr lIns="0" rIns="0" bIns="18000" anchor="t">
            <a:normAutofit/>
          </a:bodyPr>
          <a:lstStyle>
            <a:lvl1pPr marL="0" indent="0" algn="l" latinLnBrk="0">
              <a:lnSpc>
                <a:spcPct val="105000"/>
              </a:lnSpc>
              <a:buNone/>
              <a:defRPr sz="1900" b="1" kern="0" spc="0" baseline="0">
                <a:latin typeface="나눔바른고딕" panose="020B0603020101020101" pitchFamily="50" charset="-127"/>
                <a:ea typeface="나눔바른고딕" panose="020B0603020101020101" pitchFamily="50" charset="-127"/>
                <a:cs typeface="Arial" panose="020B0604020202020204" pitchFamily="34" charset="0"/>
              </a:defRPr>
            </a:lvl1pPr>
            <a:lvl2pPr algn="l" latinLnBrk="0">
              <a:defRPr sz="1000"/>
            </a:lvl2pPr>
            <a:lvl3pPr algn="l" latinLnBrk="0">
              <a:defRPr sz="1000"/>
            </a:lvl3pPr>
            <a:lvl4pPr algn="l" latinLnBrk="0">
              <a:defRPr sz="1000"/>
            </a:lvl4pPr>
            <a:lvl5pPr algn="l" latinLnBrk="0">
              <a:defRPr sz="10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8" name="직사각형 7"/>
          <p:cNvSpPr/>
          <p:nvPr userDrawn="1"/>
        </p:nvSpPr>
        <p:spPr bwMode="auto">
          <a:xfrm>
            <a:off x="0" y="0"/>
            <a:ext cx="9906000" cy="404664"/>
          </a:xfrm>
          <a:prstGeom prst="rect">
            <a:avLst/>
          </a:prstGeom>
          <a:solidFill>
            <a:srgbClr val="314152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vert="horz" wrap="square" lIns="36000" tIns="36000" rIns="36000" bIns="36000" numCol="1" anchor="ctr" anchorCtr="0" compatLnSpc="1">
            <a:prstTxWarp prst="textNoShape">
              <a:avLst/>
            </a:prstTxWarp>
          </a:bodyPr>
          <a:lstStyle/>
          <a:p>
            <a:pPr algn="ctr" latinLnBrk="0">
              <a:lnSpc>
                <a:spcPct val="110000"/>
              </a:lnSpc>
              <a:spcBef>
                <a:spcPts val="700"/>
              </a:spcBef>
            </a:pPr>
            <a:endParaRPr lang="ko-KR" altLang="en-US" sz="1400" b="1" kern="0" spc="0" baseline="0">
              <a:solidFill>
                <a:srgbClr val="FFFFFF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634" y="59542"/>
            <a:ext cx="6713086" cy="294322"/>
          </a:xfrm>
        </p:spPr>
        <p:txBody>
          <a:bodyPr>
            <a:noAutofit/>
          </a:bodyPr>
          <a:lstStyle>
            <a:lvl1pPr algn="l">
              <a:defRPr sz="1600" b="1" kern="0" spc="0" baseline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8" name="Rectangle 96">
            <a:extLst>
              <a:ext uri="{FF2B5EF4-FFF2-40B4-BE49-F238E27FC236}">
                <a16:creationId xmlns:a16="http://schemas.microsoft.com/office/drawing/2014/main" id="{80A6BEC3-95A7-4886-B216-8A2B561A3C5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99388" y="6544628"/>
            <a:ext cx="1693862" cy="2698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ctr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kumimoji="0" sz="900" b="0" kern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ctr" rtl="0" eaLnBrk="0" fontAlgn="base" hangingPunct="0">
              <a:lnSpc>
                <a:spcPct val="104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defRPr sz="12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ctr" rtl="0" eaLnBrk="0" fontAlgn="base" hangingPunct="0">
              <a:lnSpc>
                <a:spcPct val="104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defRPr sz="12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ctr" rtl="0" eaLnBrk="0" fontAlgn="base" hangingPunct="0">
              <a:lnSpc>
                <a:spcPct val="104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defRPr sz="12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ctr" rtl="0" eaLnBrk="0" fontAlgn="base" hangingPunct="0">
              <a:lnSpc>
                <a:spcPct val="104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defRPr sz="12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sz="12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sz="12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sz="12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sz="12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r" latinLnBrk="0">
              <a:defRPr/>
            </a:pPr>
            <a:r>
              <a:rPr lang="en-US" altLang="ko-KR" sz="1000" b="1" spc="0" baseline="0"/>
              <a:t>P.</a:t>
            </a:r>
            <a:fld id="{2325695A-9283-481F-BFD6-A88559A090D9}" type="slidenum">
              <a:rPr lang="en-US" altLang="ko-KR" sz="1000" b="1" spc="0" baseline="0" smtClean="0"/>
              <a:pPr algn="r" latinLnBrk="0">
                <a:defRPr/>
              </a:pPr>
              <a:t>‹#›</a:t>
            </a:fld>
            <a:endParaRPr lang="en-US" altLang="ko-KR" sz="1000" b="1" spc="0" baseline="0"/>
          </a:p>
        </p:txBody>
      </p:sp>
      <p:pic>
        <p:nvPicPr>
          <p:cNvPr id="9" name="Picture 161" descr="logotype">
            <a:extLst>
              <a:ext uri="{FF2B5EF4-FFF2-40B4-BE49-F238E27FC236}">
                <a16:creationId xmlns:a16="http://schemas.microsoft.com/office/drawing/2014/main" id="{E82CD273-E12D-4E75-B2A2-DC6ADDF19C3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1175" y="6562725"/>
            <a:ext cx="911628" cy="234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30191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  <p15:guide id="2" pos="240">
          <p15:clr>
            <a:srgbClr val="FBAE40"/>
          </p15:clr>
        </p15:guide>
        <p15:guide id="3" pos="6000">
          <p15:clr>
            <a:srgbClr val="FBAE40"/>
          </p15:clr>
        </p15:guide>
        <p15:guide id="4" orient="horz" pos="4110">
          <p15:clr>
            <a:srgbClr val="FBAE40"/>
          </p15:clr>
        </p15:guide>
        <p15:guide id="5" orient="horz" pos="935" userDrawn="1">
          <p15:clr>
            <a:srgbClr val="FBAE40"/>
          </p15:clr>
        </p15:guide>
        <p15:guide id="6" pos="3120" userDrawn="1">
          <p15:clr>
            <a:srgbClr val="FBAE40"/>
          </p15:clr>
        </p15:guide>
        <p15:guide id="7" pos="3188" userDrawn="1">
          <p15:clr>
            <a:srgbClr val="FBAE40"/>
          </p15:clr>
        </p15:guide>
        <p15:guide id="8" pos="3052" userDrawn="1">
          <p15:clr>
            <a:srgbClr val="FBAE40"/>
          </p15:clr>
        </p15:guide>
        <p15:guide id="9" orient="horz" pos="392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 bwMode="auto">
          <a:xfrm>
            <a:off x="0" y="0"/>
            <a:ext cx="9906000" cy="404664"/>
          </a:xfrm>
          <a:prstGeom prst="rect">
            <a:avLst/>
          </a:prstGeom>
          <a:solidFill>
            <a:srgbClr val="314152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vert="horz" wrap="square" lIns="36000" tIns="36000" rIns="36000" bIns="36000" numCol="1" anchor="ctr" anchorCtr="0" compatLnSpc="1">
            <a:prstTxWarp prst="textNoShape">
              <a:avLst/>
            </a:prstTxWarp>
          </a:bodyPr>
          <a:lstStyle/>
          <a:p>
            <a:pPr algn="ctr" latinLnBrk="0">
              <a:lnSpc>
                <a:spcPct val="110000"/>
              </a:lnSpc>
              <a:spcBef>
                <a:spcPts val="700"/>
              </a:spcBef>
            </a:pPr>
            <a:endParaRPr lang="ko-KR" altLang="en-US" sz="1400" b="1" kern="0" spc="0" baseline="0">
              <a:solidFill>
                <a:srgbClr val="FFFFFF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634" y="59542"/>
            <a:ext cx="6713086" cy="294322"/>
          </a:xfrm>
        </p:spPr>
        <p:txBody>
          <a:bodyPr>
            <a:noAutofit/>
          </a:bodyPr>
          <a:lstStyle>
            <a:lvl1pPr algn="l">
              <a:defRPr sz="1600" b="1" kern="0" spc="0" baseline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8" name="Rectangle 96">
            <a:extLst>
              <a:ext uri="{FF2B5EF4-FFF2-40B4-BE49-F238E27FC236}">
                <a16:creationId xmlns:a16="http://schemas.microsoft.com/office/drawing/2014/main" id="{80A6BEC3-95A7-4886-B216-8A2B561A3C5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99388" y="6544628"/>
            <a:ext cx="1693862" cy="2698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ctr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kumimoji="0" sz="900" b="0" kern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ctr" rtl="0" eaLnBrk="0" fontAlgn="base" hangingPunct="0">
              <a:lnSpc>
                <a:spcPct val="104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defRPr sz="12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ctr" rtl="0" eaLnBrk="0" fontAlgn="base" hangingPunct="0">
              <a:lnSpc>
                <a:spcPct val="104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defRPr sz="12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ctr" rtl="0" eaLnBrk="0" fontAlgn="base" hangingPunct="0">
              <a:lnSpc>
                <a:spcPct val="104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defRPr sz="12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ctr" rtl="0" eaLnBrk="0" fontAlgn="base" hangingPunct="0">
              <a:lnSpc>
                <a:spcPct val="104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defRPr sz="12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sz="12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sz="12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sz="12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sz="12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r" latinLnBrk="0">
              <a:defRPr/>
            </a:pPr>
            <a:r>
              <a:rPr lang="en-US" altLang="ko-KR" sz="1000" b="1" spc="0" baseline="0"/>
              <a:t>P.</a:t>
            </a:r>
            <a:fld id="{2325695A-9283-481F-BFD6-A88559A090D9}" type="slidenum">
              <a:rPr lang="en-US" altLang="ko-KR" sz="1000" b="1" spc="0" baseline="0" smtClean="0"/>
              <a:pPr algn="r" latinLnBrk="0">
                <a:defRPr/>
              </a:pPr>
              <a:t>‹#›</a:t>
            </a:fld>
            <a:endParaRPr lang="en-US" altLang="ko-KR" sz="1000" b="1" spc="0" baseline="0"/>
          </a:p>
        </p:txBody>
      </p:sp>
      <p:pic>
        <p:nvPicPr>
          <p:cNvPr id="9" name="Picture 161" descr="logotype">
            <a:extLst>
              <a:ext uri="{FF2B5EF4-FFF2-40B4-BE49-F238E27FC236}">
                <a16:creationId xmlns:a16="http://schemas.microsoft.com/office/drawing/2014/main" id="{E82CD273-E12D-4E75-B2A2-DC6ADDF19C3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1175" y="6562725"/>
            <a:ext cx="911628" cy="234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218584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240">
          <p15:clr>
            <a:srgbClr val="FBAE40"/>
          </p15:clr>
        </p15:guide>
        <p15:guide id="3" pos="6000">
          <p15:clr>
            <a:srgbClr val="FBAE40"/>
          </p15:clr>
        </p15:guide>
        <p15:guide id="4" orient="horz" pos="4110">
          <p15:clr>
            <a:srgbClr val="FBAE40"/>
          </p15:clr>
        </p15:guide>
        <p15:guide id="5" orient="horz" pos="459" userDrawn="1">
          <p15:clr>
            <a:srgbClr val="FBAE40"/>
          </p15:clr>
        </p15:guide>
        <p15:guide id="6" pos="3120">
          <p15:clr>
            <a:srgbClr val="FBAE40"/>
          </p15:clr>
        </p15:guide>
        <p15:guide id="7" pos="3188">
          <p15:clr>
            <a:srgbClr val="FBAE40"/>
          </p15:clr>
        </p15:guide>
        <p15:guide id="8" pos="3052">
          <p15:clr>
            <a:srgbClr val="FBAE40"/>
          </p15:clr>
        </p15:guide>
        <p15:guide id="9" orient="horz" pos="392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of Docu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8453CB17-E0AE-44D9-8FA0-AC49A0816021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84162" y="930408"/>
            <a:ext cx="2760200" cy="59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eaLnBrk="0" fontAlgn="base" latinLnBrk="0" hangingPunct="0">
              <a:lnSpc>
                <a:spcPts val="16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altLang="ko-KR" sz="700" kern="0" baseline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This repo</a:t>
            </a:r>
            <a:r>
              <a:rPr lang="en-US" altLang="ko-KR" sz="700" b="1" kern="0" baseline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r</a:t>
            </a:r>
            <a:r>
              <a:rPr lang="en-US" altLang="ko-KR" sz="700" kern="0" baseline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t is solely for the use of client personnel. No part of it may be circulated, quoted, or reproduced for distribution outside the client organization without prior approval from Insight Group.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524576-78D3-4F4C-906C-CB5B050BB3C3}"/>
              </a:ext>
            </a:extLst>
          </p:cNvPr>
          <p:cNvSpPr txBox="1"/>
          <p:nvPr userDrawn="1"/>
        </p:nvSpPr>
        <p:spPr>
          <a:xfrm>
            <a:off x="415924" y="407470"/>
            <a:ext cx="6872643" cy="523220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>
              <a:lnSpc>
                <a:spcPct val="100000"/>
              </a:lnSpc>
              <a:spcBef>
                <a:spcPts val="600"/>
              </a:spcBef>
            </a:pPr>
            <a:r>
              <a:rPr lang="en-US" altLang="ko-KR" sz="2800" b="1" baseline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End of Document</a:t>
            </a:r>
            <a:endParaRPr lang="ko-KR" altLang="en-US" sz="2800" b="1" baseline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8159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39337" y="496049"/>
            <a:ext cx="9614263" cy="728143"/>
          </a:xfrm>
        </p:spPr>
        <p:txBody>
          <a:bodyPr lIns="0" rIns="0" bIns="18000" anchor="t">
            <a:normAutofit/>
          </a:bodyPr>
          <a:lstStyle>
            <a:lvl1pPr marL="0" indent="0" algn="l" latinLnBrk="0">
              <a:lnSpc>
                <a:spcPct val="105000"/>
              </a:lnSpc>
              <a:buNone/>
              <a:defRPr sz="1900" b="1" kern="0" spc="-100" baseline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algn="l" latinLnBrk="0">
              <a:defRPr sz="1000"/>
            </a:lvl2pPr>
            <a:lvl3pPr algn="l" latinLnBrk="0">
              <a:defRPr sz="1000"/>
            </a:lvl3pPr>
            <a:lvl4pPr algn="l" latinLnBrk="0">
              <a:defRPr sz="1000"/>
            </a:lvl4pPr>
            <a:lvl5pPr algn="l" latinLnBrk="0">
              <a:defRPr sz="10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8" name="직사각형 7"/>
          <p:cNvSpPr/>
          <p:nvPr userDrawn="1"/>
        </p:nvSpPr>
        <p:spPr bwMode="auto">
          <a:xfrm>
            <a:off x="0" y="0"/>
            <a:ext cx="9906000" cy="404664"/>
          </a:xfrm>
          <a:prstGeom prst="rect">
            <a:avLst/>
          </a:prstGeom>
          <a:solidFill>
            <a:srgbClr val="314152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vert="horz" wrap="square" lIns="36000" tIns="36000" rIns="36000" bIns="36000" numCol="1" anchor="ctr" anchorCtr="0" compatLnSpc="1">
            <a:prstTxWarp prst="textNoShape">
              <a:avLst/>
            </a:prstTxWarp>
          </a:bodyPr>
          <a:lstStyle/>
          <a:p>
            <a:pPr algn="ctr" latinLnBrk="0">
              <a:lnSpc>
                <a:spcPct val="110000"/>
              </a:lnSpc>
              <a:spcBef>
                <a:spcPts val="700"/>
              </a:spcBef>
            </a:pPr>
            <a:endParaRPr lang="ko-KR" altLang="en-US" sz="1400" b="1" kern="0" spc="-100">
              <a:solidFill>
                <a:srgbClr val="FFFFFF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634" y="59542"/>
            <a:ext cx="6713086" cy="294322"/>
          </a:xfrm>
        </p:spPr>
        <p:txBody>
          <a:bodyPr>
            <a:noAutofit/>
          </a:bodyPr>
          <a:lstStyle>
            <a:lvl1pPr algn="l">
              <a:defRPr sz="1600" b="1" kern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pic>
        <p:nvPicPr>
          <p:cNvPr id="17" name="Picture 161" descr="logotype">
            <a:extLst>
              <a:ext uri="{FF2B5EF4-FFF2-40B4-BE49-F238E27FC236}">
                <a16:creationId xmlns:a16="http://schemas.microsoft.com/office/drawing/2014/main" id="{10905B7A-A407-4C2D-8491-2348F4922F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1014" y="6562725"/>
            <a:ext cx="911628" cy="234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Rectangle 96">
            <a:extLst>
              <a:ext uri="{FF2B5EF4-FFF2-40B4-BE49-F238E27FC236}">
                <a16:creationId xmlns:a16="http://schemas.microsoft.com/office/drawing/2014/main" id="{80A6BEC3-95A7-4886-B216-8A2B561A3C5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99388" y="6544628"/>
            <a:ext cx="1693862" cy="2698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ctr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kumimoji="0" sz="900" b="0" kern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ctr" rtl="0" eaLnBrk="0" fontAlgn="base" hangingPunct="0">
              <a:lnSpc>
                <a:spcPct val="104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defRPr sz="12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ctr" rtl="0" eaLnBrk="0" fontAlgn="base" hangingPunct="0">
              <a:lnSpc>
                <a:spcPct val="104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defRPr sz="12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ctr" rtl="0" eaLnBrk="0" fontAlgn="base" hangingPunct="0">
              <a:lnSpc>
                <a:spcPct val="104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defRPr sz="12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ctr" rtl="0" eaLnBrk="0" fontAlgn="base" hangingPunct="0">
              <a:lnSpc>
                <a:spcPct val="104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defRPr sz="12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sz="12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sz="12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sz="12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sz="12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r" latinLnBrk="0">
              <a:defRPr/>
            </a:pPr>
            <a:r>
              <a:rPr lang="en-US" altLang="ko-KR" sz="1000" b="1"/>
              <a:t>P.</a:t>
            </a:r>
            <a:fld id="{2325695A-9283-481F-BFD6-A88559A090D9}" type="slidenum">
              <a:rPr lang="en-US" altLang="ko-KR" sz="1000" b="1" smtClean="0"/>
              <a:pPr algn="r" latinLnBrk="0">
                <a:defRPr/>
              </a:pPr>
              <a:t>‹#›</a:t>
            </a:fld>
            <a:endParaRPr lang="en-US" altLang="ko-KR" sz="1000" b="1"/>
          </a:p>
        </p:txBody>
      </p:sp>
    </p:spTree>
    <p:extLst>
      <p:ext uri="{BB962C8B-B14F-4D97-AF65-F5344CB8AC3E}">
        <p14:creationId xmlns:p14="http://schemas.microsoft.com/office/powerpoint/2010/main" val="1614188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5">
          <p15:clr>
            <a:srgbClr val="FBAE40"/>
          </p15:clr>
        </p15:guide>
        <p15:guide id="2" pos="240">
          <p15:clr>
            <a:srgbClr val="FBAE40"/>
          </p15:clr>
        </p15:guide>
        <p15:guide id="3" pos="6000">
          <p15:clr>
            <a:srgbClr val="FBAE40"/>
          </p15:clr>
        </p15:guide>
        <p15:guide id="4" orient="horz" pos="4110">
          <p15:clr>
            <a:srgbClr val="FBAE40"/>
          </p15:clr>
        </p15:guide>
        <p15:guide id="5" orient="horz" pos="1389">
          <p15:clr>
            <a:srgbClr val="FBAE40"/>
          </p15:clr>
        </p15:guide>
        <p15:guide id="6" pos="31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142957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7" r:id="rId2"/>
    <p:sldLayoutId id="2147483808" r:id="rId3"/>
    <p:sldLayoutId id="2147483809" r:id="rId4"/>
    <p:sldLayoutId id="2147483805" r:id="rId5"/>
    <p:sldLayoutId id="2147483811" r:id="rId6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 spc="-100" baseline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 spc="-100" baseline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 spc="-100" baseline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 spc="-100" baseline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 spc="-100" baseline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 spc="-100" baseline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AutoShape 65">
            <a:extLst>
              <a:ext uri="{FF2B5EF4-FFF2-40B4-BE49-F238E27FC236}">
                <a16:creationId xmlns:a16="http://schemas.microsoft.com/office/drawing/2014/main" id="{A89CBAB6-E426-43FB-1AFE-1F0AE9D90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3794" y="5156948"/>
            <a:ext cx="3194613" cy="433102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lIns="18000" tIns="44450" rIns="18000" bIns="44450" anchor="b"/>
          <a:lstStyle/>
          <a:p>
            <a:pPr algn="ctr" fontAlgn="ctr">
              <a:lnSpc>
                <a:spcPct val="100000"/>
              </a:lnSpc>
              <a:buClr>
                <a:srgbClr val="000000"/>
              </a:buClr>
            </a:pPr>
            <a:r>
              <a:rPr lang="en-US" altLang="ko-KR" sz="1050" i="1">
                <a:solidFill>
                  <a:schemeClr val="bg2"/>
                </a:solidFill>
                <a:latin typeface="+mn-ea"/>
                <a:ea typeface="+mn-ea"/>
                <a:cs typeface="Arial" panose="020B0604020202020204" pitchFamily="34" charset="0"/>
              </a:rPr>
              <a:t>Survey </a:t>
            </a:r>
            <a:r>
              <a:rPr lang="ko-KR" altLang="en-US" sz="1050" i="1">
                <a:solidFill>
                  <a:schemeClr val="bg2"/>
                </a:solidFill>
                <a:latin typeface="+mn-ea"/>
                <a:ea typeface="+mn-ea"/>
                <a:cs typeface="Arial" panose="020B0604020202020204" pitchFamily="34" charset="0"/>
              </a:rPr>
              <a:t>결과 분석에 추가적으로 활용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669CA55-0FAA-D0FC-BB4E-B38BEFBA8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진단 </a:t>
            </a:r>
            <a:r>
              <a:rPr lang="en-US" altLang="ko-KR"/>
              <a:t>Framework</a:t>
            </a: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3B41519-95A8-0C2D-6050-9EE909AB351E}"/>
              </a:ext>
            </a:extLst>
          </p:cNvPr>
          <p:cNvSpPr/>
          <p:nvPr/>
        </p:nvSpPr>
        <p:spPr>
          <a:xfrm>
            <a:off x="381000" y="1484313"/>
            <a:ext cx="914400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>
              <a:lnSpc>
                <a:spcPct val="100000"/>
              </a:lnSpc>
              <a:spcBef>
                <a:spcPts val="300"/>
              </a:spcBef>
            </a:pPr>
            <a:r>
              <a:rPr lang="ko-KR" altLang="en-US" sz="14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조직</a:t>
            </a:r>
            <a:r>
              <a:rPr lang="en-US" altLang="ko-KR" sz="14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4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진단 </a:t>
            </a:r>
            <a:r>
              <a:rPr lang="en-US" altLang="ko-KR" sz="14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Framework</a:t>
            </a:r>
            <a:endParaRPr lang="ko-KR" altLang="en-US" sz="1400" b="1" kern="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AC58BFE-AF61-5183-FE80-81F9326C788D}"/>
              </a:ext>
            </a:extLst>
          </p:cNvPr>
          <p:cNvSpPr/>
          <p:nvPr/>
        </p:nvSpPr>
        <p:spPr>
          <a:xfrm>
            <a:off x="381000" y="1808163"/>
            <a:ext cx="9144000" cy="4429125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>
              <a:lnSpc>
                <a:spcPct val="120000"/>
              </a:lnSpc>
              <a:spcBef>
                <a:spcPts val="300"/>
              </a:spcBef>
            </a:pPr>
            <a:endParaRPr lang="ko-KR" altLang="en-US" b="1" kern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8F2DF92F-2B63-A530-CBFB-345661342F04}"/>
              </a:ext>
            </a:extLst>
          </p:cNvPr>
          <p:cNvCxnSpPr>
            <a:cxnSpLocks/>
          </p:cNvCxnSpPr>
          <p:nvPr/>
        </p:nvCxnSpPr>
        <p:spPr>
          <a:xfrm>
            <a:off x="733263" y="2632245"/>
            <a:ext cx="8678614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9575ECDE-A0AB-86B2-D893-C22F6BE5956F}"/>
              </a:ext>
            </a:extLst>
          </p:cNvPr>
          <p:cNvSpPr/>
          <p:nvPr/>
        </p:nvSpPr>
        <p:spPr>
          <a:xfrm>
            <a:off x="1168477" y="2438117"/>
            <a:ext cx="2492445" cy="355006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>
              <a:lnSpc>
                <a:spcPct val="120000"/>
              </a:lnSpc>
              <a:spcBef>
                <a:spcPts val="300"/>
              </a:spcBef>
            </a:pPr>
            <a:r>
              <a:rPr lang="ko-KR" altLang="en-US" b="1" kern="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① 가치 내재화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53D8A1F-5BDB-489A-8790-121621CC2254}"/>
              </a:ext>
            </a:extLst>
          </p:cNvPr>
          <p:cNvSpPr/>
          <p:nvPr/>
        </p:nvSpPr>
        <p:spPr>
          <a:xfrm>
            <a:off x="7731715" y="2438117"/>
            <a:ext cx="1486078" cy="355006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>
              <a:lnSpc>
                <a:spcPct val="120000"/>
              </a:lnSpc>
              <a:spcBef>
                <a:spcPts val="300"/>
              </a:spcBef>
            </a:pPr>
            <a:r>
              <a:rPr lang="ko-KR" altLang="en-US" b="1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③ 조직 몰입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4CF416D-2074-590D-F80B-F99E66AD41FF}"/>
              </a:ext>
            </a:extLst>
          </p:cNvPr>
          <p:cNvSpPr/>
          <p:nvPr/>
        </p:nvSpPr>
        <p:spPr>
          <a:xfrm>
            <a:off x="1095445" y="1996870"/>
            <a:ext cx="2636761" cy="44088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lvl="1" algn="ctr" defTabSz="939800" latinLnBrk="0">
              <a:lnSpc>
                <a:spcPct val="110000"/>
              </a:lnSpc>
              <a:spcBef>
                <a:spcPts val="300"/>
              </a:spcBef>
              <a:buClr>
                <a:srgbClr val="000000"/>
              </a:buClr>
              <a:buSzPct val="90000"/>
              <a:defRPr/>
            </a:pPr>
            <a:r>
              <a:rPr kumimoji="0" lang="ko-KR" altLang="en-US" sz="1100" b="1" kern="0" dirty="0">
                <a:solidFill>
                  <a:schemeClr val="accent1"/>
                </a:solidFill>
                <a:latin typeface="+mn-ea"/>
                <a:ea typeface="+mn-ea"/>
              </a:rPr>
              <a:t>비전</a:t>
            </a:r>
            <a:r>
              <a:rPr kumimoji="0" lang="en-US" altLang="ko-KR" sz="1100" b="1" kern="0" dirty="0">
                <a:solidFill>
                  <a:schemeClr val="accent1"/>
                </a:solidFill>
                <a:latin typeface="+mn-ea"/>
                <a:ea typeface="+mn-ea"/>
              </a:rPr>
              <a:t>/</a:t>
            </a:r>
            <a:r>
              <a:rPr kumimoji="0" lang="ko-KR" altLang="en-US" sz="1100" b="1" kern="0" dirty="0">
                <a:solidFill>
                  <a:schemeClr val="accent1"/>
                </a:solidFill>
                <a:latin typeface="+mn-ea"/>
                <a:ea typeface="+mn-ea"/>
              </a:rPr>
              <a:t>전략</a:t>
            </a:r>
            <a:r>
              <a:rPr kumimoji="0" lang="en-US" altLang="ko-KR" sz="1100" b="1" kern="0" dirty="0">
                <a:solidFill>
                  <a:schemeClr val="accent1"/>
                </a:solidFill>
                <a:latin typeface="+mn-ea"/>
                <a:ea typeface="+mn-ea"/>
              </a:rPr>
              <a:t> </a:t>
            </a:r>
            <a:r>
              <a:rPr kumimoji="0" lang="ko-KR" altLang="en-US" sz="1100" b="1" kern="0" dirty="0">
                <a:solidFill>
                  <a:schemeClr val="accent1"/>
                </a:solidFill>
                <a:latin typeface="+mn-ea"/>
                <a:ea typeface="+mn-ea"/>
              </a:rPr>
              <a:t>이해 및 공감을 바탕으로</a:t>
            </a:r>
            <a:br>
              <a:rPr kumimoji="0" lang="en-US" altLang="ko-KR" sz="1100" b="1" kern="0" dirty="0">
                <a:solidFill>
                  <a:schemeClr val="accent1"/>
                </a:solidFill>
                <a:latin typeface="+mn-ea"/>
                <a:ea typeface="+mn-ea"/>
              </a:rPr>
            </a:br>
            <a:r>
              <a:rPr kumimoji="0" lang="ko-KR" altLang="en-US" sz="1100" b="1" kern="0" dirty="0">
                <a:solidFill>
                  <a:schemeClr val="accent1"/>
                </a:solidFill>
                <a:latin typeface="+mn-ea"/>
                <a:ea typeface="+mn-ea"/>
              </a:rPr>
              <a:t>조직과 개인이 실천의지를 가지며</a:t>
            </a:r>
            <a:r>
              <a:rPr kumimoji="0" lang="en-US" altLang="ko-KR" sz="1100" b="1" kern="0" dirty="0">
                <a:solidFill>
                  <a:schemeClr val="accent1"/>
                </a:solidFill>
                <a:latin typeface="+mn-ea"/>
                <a:ea typeface="+mn-ea"/>
              </a:rPr>
              <a:t>,</a:t>
            </a:r>
            <a:endParaRPr kumimoji="0" lang="ko-KR" altLang="en-US" sz="1100" b="1" kern="0" dirty="0">
              <a:solidFill>
                <a:schemeClr val="accent1"/>
              </a:solidFill>
              <a:latin typeface="+mn-ea"/>
              <a:ea typeface="+mn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FCF34D0-9F60-271A-EDD5-CAC2267668BF}"/>
              </a:ext>
            </a:extLst>
          </p:cNvPr>
          <p:cNvSpPr/>
          <p:nvPr/>
        </p:nvSpPr>
        <p:spPr>
          <a:xfrm>
            <a:off x="7627640" y="1996870"/>
            <a:ext cx="1694226" cy="44088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lvl="1" algn="ctr" defTabSz="939800" latinLnBrk="0">
              <a:lnSpc>
                <a:spcPct val="110000"/>
              </a:lnSpc>
              <a:spcBef>
                <a:spcPts val="300"/>
              </a:spcBef>
              <a:buClr>
                <a:srgbClr val="000000"/>
              </a:buClr>
              <a:buSzPct val="90000"/>
            </a:pPr>
            <a:r>
              <a:rPr kumimoji="0" lang="ko-KR" altLang="en-US" sz="1100" b="1" kern="0">
                <a:solidFill>
                  <a:schemeClr val="accent1"/>
                </a:solidFill>
                <a:latin typeface="+mn-ea"/>
                <a:ea typeface="+mn-ea"/>
              </a:rPr>
              <a:t>조직과 업무에 대한 </a:t>
            </a:r>
            <a:br>
              <a:rPr kumimoji="0" lang="en-US" altLang="ko-KR" sz="1100" b="1" kern="0">
                <a:solidFill>
                  <a:schemeClr val="accent1"/>
                </a:solidFill>
                <a:latin typeface="+mn-ea"/>
                <a:ea typeface="+mn-ea"/>
              </a:rPr>
            </a:br>
            <a:r>
              <a:rPr kumimoji="0" lang="ko-KR" altLang="en-US" sz="1100" b="1" kern="0">
                <a:solidFill>
                  <a:schemeClr val="accent1"/>
                </a:solidFill>
                <a:latin typeface="+mn-ea"/>
                <a:ea typeface="+mn-ea"/>
              </a:rPr>
              <a:t>구성원의 몰입으로 이어짐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B275072-3DB0-5C65-00A7-8B2FB40F41FB}"/>
              </a:ext>
            </a:extLst>
          </p:cNvPr>
          <p:cNvSpPr/>
          <p:nvPr/>
        </p:nvSpPr>
        <p:spPr>
          <a:xfrm>
            <a:off x="3946913" y="2438117"/>
            <a:ext cx="3466020" cy="355006"/>
          </a:xfrm>
          <a:prstGeom prst="rect">
            <a:avLst/>
          </a:prstGeom>
          <a:solidFill>
            <a:schemeClr val="accent6">
              <a:lumMod val="9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>
              <a:lnSpc>
                <a:spcPct val="120000"/>
              </a:lnSpc>
              <a:spcBef>
                <a:spcPts val="300"/>
              </a:spcBef>
            </a:pPr>
            <a:r>
              <a:rPr lang="ko-KR" altLang="en-US" b="1" kern="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② 가치 실천 환경 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869BD04-75AB-26D5-AD2F-042614018F86}"/>
              </a:ext>
            </a:extLst>
          </p:cNvPr>
          <p:cNvSpPr/>
          <p:nvPr/>
        </p:nvSpPr>
        <p:spPr>
          <a:xfrm>
            <a:off x="3946914" y="1996870"/>
            <a:ext cx="3466019" cy="44088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lvl="1" algn="ctr" defTabSz="939800" latinLnBrk="0">
              <a:lnSpc>
                <a:spcPct val="110000"/>
              </a:lnSpc>
              <a:spcBef>
                <a:spcPts val="300"/>
              </a:spcBef>
              <a:buClr>
                <a:srgbClr val="000000"/>
              </a:buClr>
              <a:buSzPct val="90000"/>
              <a:defRPr/>
            </a:pPr>
            <a:r>
              <a:rPr kumimoji="0" lang="ko-KR" altLang="en-US" sz="1100" b="1" kern="0" dirty="0">
                <a:solidFill>
                  <a:schemeClr val="accent1"/>
                </a:solidFill>
                <a:latin typeface="+mn-ea"/>
                <a:ea typeface="+mn-ea"/>
              </a:rPr>
              <a:t>가치를 내재화하고 일상생활 속에서 실천할 수 있도록 조직과 리더가 환경을 조성하면</a:t>
            </a:r>
            <a:r>
              <a:rPr kumimoji="0" lang="en-US" altLang="ko-KR" sz="1100" b="1" kern="0" dirty="0">
                <a:solidFill>
                  <a:schemeClr val="accent1"/>
                </a:solidFill>
                <a:latin typeface="+mn-ea"/>
                <a:ea typeface="+mn-ea"/>
              </a:rPr>
              <a:t>,</a:t>
            </a:r>
            <a:endParaRPr kumimoji="0" lang="ko-KR" altLang="en-US" sz="1100" b="1" kern="0" dirty="0">
              <a:solidFill>
                <a:schemeClr val="accent1"/>
              </a:solidFill>
              <a:latin typeface="+mn-ea"/>
              <a:ea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DC20DFD-9C37-C514-BA76-3A1344D95251}"/>
              </a:ext>
            </a:extLst>
          </p:cNvPr>
          <p:cNvSpPr/>
          <p:nvPr/>
        </p:nvSpPr>
        <p:spPr>
          <a:xfrm>
            <a:off x="1168477" y="3018297"/>
            <a:ext cx="2492444" cy="205883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>
              <a:lnSpc>
                <a:spcPct val="120000"/>
              </a:lnSpc>
              <a:spcBef>
                <a:spcPts val="300"/>
              </a:spcBef>
            </a:pPr>
            <a:endParaRPr lang="ko-KR" altLang="en-US" b="1" kern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F464E49-D9D6-A4E9-5355-99F675A80969}"/>
              </a:ext>
            </a:extLst>
          </p:cNvPr>
          <p:cNvSpPr/>
          <p:nvPr/>
        </p:nvSpPr>
        <p:spPr>
          <a:xfrm>
            <a:off x="2477693" y="3700144"/>
            <a:ext cx="1075226" cy="127740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>
              <a:lnSpc>
                <a:spcPct val="110000"/>
              </a:lnSpc>
              <a:spcBef>
                <a:spcPts val="300"/>
              </a:spcBef>
            </a:pPr>
            <a:r>
              <a:rPr lang="ko-KR" altLang="en-US" sz="11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경영전략 및 사업목표에 대한</a:t>
            </a:r>
            <a:endParaRPr lang="en-US" altLang="ko-KR" sz="1100" kern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 latinLnBrk="0">
              <a:lnSpc>
                <a:spcPct val="110000"/>
              </a:lnSpc>
              <a:spcBef>
                <a:spcPts val="300"/>
              </a:spcBef>
            </a:pPr>
            <a:r>
              <a:rPr lang="ko-KR" altLang="en-US" sz="11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이해</a:t>
            </a:r>
            <a:r>
              <a:rPr lang="en-US" altLang="ko-KR" sz="11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1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공유</a:t>
            </a:r>
            <a:r>
              <a:rPr lang="en-US" altLang="ko-KR" sz="11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1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공감</a:t>
            </a:r>
            <a:r>
              <a:rPr lang="en-US" altLang="ko-KR" sz="11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1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실천의지 진단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24F1ACD-5D92-AED0-899D-B19862368202}"/>
              </a:ext>
            </a:extLst>
          </p:cNvPr>
          <p:cNvSpPr/>
          <p:nvPr/>
        </p:nvSpPr>
        <p:spPr>
          <a:xfrm>
            <a:off x="3958488" y="3018297"/>
            <a:ext cx="3466019" cy="205883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>
              <a:lnSpc>
                <a:spcPct val="120000"/>
              </a:lnSpc>
              <a:spcBef>
                <a:spcPts val="300"/>
              </a:spcBef>
            </a:pPr>
            <a:endParaRPr lang="ko-KR" altLang="en-US" b="1" kern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955CF55-A7C1-6DCA-6FD7-2668D177A4A4}"/>
              </a:ext>
            </a:extLst>
          </p:cNvPr>
          <p:cNvSpPr/>
          <p:nvPr/>
        </p:nvSpPr>
        <p:spPr>
          <a:xfrm>
            <a:off x="7731715" y="3018297"/>
            <a:ext cx="1486077" cy="205883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>
              <a:lnSpc>
                <a:spcPct val="120000"/>
              </a:lnSpc>
              <a:spcBef>
                <a:spcPts val="300"/>
              </a:spcBef>
            </a:pPr>
            <a:endParaRPr lang="ko-KR" altLang="en-US" b="1" kern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3DCE6961-C988-EE48-3694-4AEB13093B3D}"/>
              </a:ext>
            </a:extLst>
          </p:cNvPr>
          <p:cNvSpPr/>
          <p:nvPr/>
        </p:nvSpPr>
        <p:spPr>
          <a:xfrm>
            <a:off x="7810121" y="3117884"/>
            <a:ext cx="1329265" cy="29617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>
              <a:lnSpc>
                <a:spcPct val="100000"/>
              </a:lnSpc>
              <a:spcBef>
                <a:spcPts val="300"/>
              </a:spcBef>
            </a:pPr>
            <a:r>
              <a:rPr lang="en-US" altLang="ko-KR" sz="11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Pride</a:t>
            </a:r>
            <a:endParaRPr lang="ko-KR" altLang="en-US" sz="1100" kern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AFA21629-382F-1183-70F3-D6C34EC9D38E}"/>
              </a:ext>
            </a:extLst>
          </p:cNvPr>
          <p:cNvSpPr/>
          <p:nvPr/>
        </p:nvSpPr>
        <p:spPr>
          <a:xfrm>
            <a:off x="7810121" y="3508758"/>
            <a:ext cx="1329265" cy="29617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>
              <a:lnSpc>
                <a:spcPct val="100000"/>
              </a:lnSpc>
              <a:spcBef>
                <a:spcPts val="300"/>
              </a:spcBef>
            </a:pPr>
            <a:r>
              <a:rPr lang="ko-KR" altLang="en-US" sz="11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만족도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075D40E8-FBF9-7705-799F-CC6CE6F1A9AA}"/>
              </a:ext>
            </a:extLst>
          </p:cNvPr>
          <p:cNvSpPr/>
          <p:nvPr/>
        </p:nvSpPr>
        <p:spPr>
          <a:xfrm>
            <a:off x="7810121" y="3899632"/>
            <a:ext cx="1329265" cy="29617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>
              <a:lnSpc>
                <a:spcPct val="100000"/>
              </a:lnSpc>
              <a:spcBef>
                <a:spcPts val="300"/>
              </a:spcBef>
            </a:pPr>
            <a:r>
              <a:rPr lang="ko-KR" altLang="en-US" sz="11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추천의지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06AB7F3F-59F2-E0AD-BC96-27E248050B47}"/>
              </a:ext>
            </a:extLst>
          </p:cNvPr>
          <p:cNvSpPr/>
          <p:nvPr/>
        </p:nvSpPr>
        <p:spPr>
          <a:xfrm>
            <a:off x="7810121" y="4290506"/>
            <a:ext cx="1329265" cy="29617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>
              <a:lnSpc>
                <a:spcPct val="100000"/>
              </a:lnSpc>
              <a:spcBef>
                <a:spcPts val="300"/>
              </a:spcBef>
            </a:pPr>
            <a:r>
              <a:rPr lang="en-US" altLang="ko-KR" sz="11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1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재직의사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9D72743B-3F5C-3B88-9876-12FB116CCF2C}"/>
              </a:ext>
            </a:extLst>
          </p:cNvPr>
          <p:cNvSpPr/>
          <p:nvPr/>
        </p:nvSpPr>
        <p:spPr>
          <a:xfrm>
            <a:off x="7810121" y="4681377"/>
            <a:ext cx="1329265" cy="29617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>
              <a:lnSpc>
                <a:spcPct val="100000"/>
              </a:lnSpc>
              <a:spcBef>
                <a:spcPts val="300"/>
              </a:spcBef>
            </a:pPr>
            <a:r>
              <a:rPr lang="en-US" altLang="ko-KR" sz="11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1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성장감</a:t>
            </a: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1A49F86F-EB59-0C0A-9AEC-427CD57D9433}"/>
              </a:ext>
            </a:extLst>
          </p:cNvPr>
          <p:cNvGrpSpPr/>
          <p:nvPr/>
        </p:nvGrpSpPr>
        <p:grpSpPr>
          <a:xfrm>
            <a:off x="1168477" y="5590051"/>
            <a:ext cx="8049315" cy="562843"/>
            <a:chOff x="805016" y="5230713"/>
            <a:chExt cx="8311336" cy="875105"/>
          </a:xfrm>
        </p:grpSpPr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417553FC-227F-E4B0-4491-8A4F6C74AC7C}"/>
                </a:ext>
              </a:extLst>
            </p:cNvPr>
            <p:cNvSpPr/>
            <p:nvPr/>
          </p:nvSpPr>
          <p:spPr>
            <a:xfrm>
              <a:off x="805016" y="5230713"/>
              <a:ext cx="8311336" cy="8751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 latinLnBrk="0">
                <a:lnSpc>
                  <a:spcPct val="120000"/>
                </a:lnSpc>
                <a:spcBef>
                  <a:spcPts val="300"/>
                </a:spcBef>
              </a:pPr>
              <a:endParaRPr lang="ko-KR" altLang="en-US" b="1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69150C5D-C71C-11E4-3ACC-AD69CC21C0E7}"/>
                </a:ext>
              </a:extLst>
            </p:cNvPr>
            <p:cNvSpPr/>
            <p:nvPr/>
          </p:nvSpPr>
          <p:spPr>
            <a:xfrm>
              <a:off x="3583490" y="5444488"/>
              <a:ext cx="2648478" cy="48002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 latinLnBrk="0">
                <a:lnSpc>
                  <a:spcPct val="100000"/>
                </a:lnSpc>
                <a:spcBef>
                  <a:spcPts val="300"/>
                </a:spcBef>
              </a:pPr>
              <a:r>
                <a:rPr lang="ko-KR" altLang="en-US" sz="1100" kern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구성원 인터뷰</a:t>
              </a:r>
              <a:r>
                <a:rPr lang="en-US" altLang="ko-KR" sz="1100" kern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(FGI</a:t>
              </a:r>
              <a:r>
                <a:rPr lang="en-US" altLang="ko-KR" sz="1100" kern="0" baseline="3000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r>
                <a:rPr lang="en-US" altLang="ko-KR" sz="1100" kern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 </a:t>
              </a:r>
              <a:r>
                <a:rPr lang="ko-KR" altLang="en-US" sz="1100" kern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실행</a:t>
              </a:r>
            </a:p>
          </p:txBody>
        </p:sp>
      </p:grpSp>
      <p:sp>
        <p:nvSpPr>
          <p:cNvPr id="105" name="화살표: 오각형 104">
            <a:extLst>
              <a:ext uri="{FF2B5EF4-FFF2-40B4-BE49-F238E27FC236}">
                <a16:creationId xmlns:a16="http://schemas.microsoft.com/office/drawing/2014/main" id="{3BA2C96F-A561-53CF-2561-22F6CEE56EA3}"/>
              </a:ext>
            </a:extLst>
          </p:cNvPr>
          <p:cNvSpPr/>
          <p:nvPr/>
        </p:nvSpPr>
        <p:spPr>
          <a:xfrm>
            <a:off x="414004" y="3018294"/>
            <a:ext cx="665915" cy="2058840"/>
          </a:xfrm>
          <a:prstGeom prst="homePlate">
            <a:avLst>
              <a:gd name="adj" fmla="val 24688"/>
            </a:avLst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>
              <a:lnSpc>
                <a:spcPct val="100000"/>
              </a:lnSpc>
              <a:spcBef>
                <a:spcPts val="300"/>
              </a:spcBef>
            </a:pPr>
            <a:r>
              <a:rPr lang="en-US" altLang="ko-KR" sz="1100" b="1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Survey</a:t>
            </a:r>
            <a:endParaRPr lang="ko-KR" altLang="en-US" sz="1100" b="1" kern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6" name="화살표: 오각형 105">
            <a:extLst>
              <a:ext uri="{FF2B5EF4-FFF2-40B4-BE49-F238E27FC236}">
                <a16:creationId xmlns:a16="http://schemas.microsoft.com/office/drawing/2014/main" id="{830FBEF0-CB78-78E4-9DCE-DD39F3EE5F8D}"/>
              </a:ext>
            </a:extLst>
          </p:cNvPr>
          <p:cNvSpPr/>
          <p:nvPr/>
        </p:nvSpPr>
        <p:spPr>
          <a:xfrm>
            <a:off x="414004" y="5590220"/>
            <a:ext cx="665915" cy="563409"/>
          </a:xfrm>
          <a:prstGeom prst="homePlate">
            <a:avLst>
              <a:gd name="adj" fmla="val 24688"/>
            </a:avLst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>
              <a:lnSpc>
                <a:spcPct val="110000"/>
              </a:lnSpc>
              <a:spcBef>
                <a:spcPts val="300"/>
              </a:spcBef>
            </a:pPr>
            <a:r>
              <a:rPr lang="ko-KR" altLang="en-US" sz="1100" b="1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기타 분석</a:t>
            </a: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4BDB8FDD-18B3-0829-7C52-05938878E45E}"/>
              </a:ext>
            </a:extLst>
          </p:cNvPr>
          <p:cNvSpPr/>
          <p:nvPr/>
        </p:nvSpPr>
        <p:spPr>
          <a:xfrm>
            <a:off x="4448399" y="3338514"/>
            <a:ext cx="2491686" cy="1429470"/>
          </a:xfrm>
          <a:prstGeom prst="roundRect">
            <a:avLst>
              <a:gd name="adj" fmla="val 28866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>
              <a:lnSpc>
                <a:spcPct val="100000"/>
              </a:lnSpc>
              <a:spcBef>
                <a:spcPts val="300"/>
              </a:spcBef>
            </a:pPr>
            <a:endParaRPr lang="ko-KR" altLang="en-US" sz="900" kern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52B7924B-37E4-D6AA-D0A1-75FCAB109D37}"/>
              </a:ext>
            </a:extLst>
          </p:cNvPr>
          <p:cNvSpPr/>
          <p:nvPr/>
        </p:nvSpPr>
        <p:spPr>
          <a:xfrm>
            <a:off x="4041231" y="3700145"/>
            <a:ext cx="1106599" cy="72233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>
              <a:lnSpc>
                <a:spcPct val="100000"/>
              </a:lnSpc>
              <a:spcBef>
                <a:spcPts val="300"/>
              </a:spcBef>
            </a:pPr>
            <a:r>
              <a:rPr lang="ko-KR" altLang="en-US" sz="1200" b="1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조직문화</a:t>
            </a:r>
            <a:endParaRPr lang="en-US" altLang="ko-KR" sz="1200" b="1" kern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90488" indent="-80963" latinLnBrk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9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조직에너지 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3480867F-B5D5-A955-43BB-1CC0816AAA78}"/>
              </a:ext>
            </a:extLst>
          </p:cNvPr>
          <p:cNvSpPr/>
          <p:nvPr/>
        </p:nvSpPr>
        <p:spPr>
          <a:xfrm>
            <a:off x="5141851" y="3070484"/>
            <a:ext cx="1106599" cy="72233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>
              <a:lnSpc>
                <a:spcPct val="100000"/>
              </a:lnSpc>
              <a:spcBef>
                <a:spcPts val="300"/>
              </a:spcBef>
            </a:pPr>
            <a:r>
              <a:rPr lang="ko-KR" altLang="en-US" sz="1200" b="1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리더십</a:t>
            </a:r>
            <a:endParaRPr lang="en-US" altLang="ko-KR" sz="1200" b="1" kern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90488" indent="-80963" latinLnBrk="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9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리더십 역량</a:t>
            </a:r>
            <a:endParaRPr lang="en-US" altLang="ko-KR" sz="900" kern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90488" indent="-80963" latinLnBrk="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altLang="ko-KR" sz="9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Derailment</a:t>
            </a:r>
          </a:p>
          <a:p>
            <a:pPr marL="90488" indent="-80963" latinLnBrk="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9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개인성격특성</a:t>
            </a:r>
            <a:r>
              <a:rPr lang="en-US" altLang="ko-KR" sz="900" kern="0" baseline="300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endParaRPr lang="ko-KR" altLang="en-US" sz="900" kern="0" baseline="3000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218879E1-A566-63D5-4689-6FA7FC680334}"/>
              </a:ext>
            </a:extLst>
          </p:cNvPr>
          <p:cNvSpPr/>
          <p:nvPr/>
        </p:nvSpPr>
        <p:spPr>
          <a:xfrm>
            <a:off x="5141850" y="4320972"/>
            <a:ext cx="1106599" cy="72233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>
              <a:lnSpc>
                <a:spcPct val="100000"/>
              </a:lnSpc>
              <a:spcBef>
                <a:spcPts val="300"/>
              </a:spcBef>
            </a:pPr>
            <a:r>
              <a:rPr lang="ko-KR" altLang="en-US" sz="1200" b="1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인사제도</a:t>
            </a:r>
            <a:endParaRPr lang="en-US" altLang="ko-KR" sz="1200" b="1" kern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90488" indent="-80963" latinLnBrk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9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직급</a:t>
            </a:r>
            <a:r>
              <a:rPr lang="en-US" altLang="ko-KR" sz="9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9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승진제도</a:t>
            </a:r>
            <a:endParaRPr lang="en-US" altLang="ko-KR" sz="900" kern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90488" indent="-80963" latinLnBrk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9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보상</a:t>
            </a:r>
            <a:r>
              <a:rPr lang="en-US" altLang="ko-KR" sz="9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9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평가제도</a:t>
            </a: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CBC14BE3-7BFD-0111-36BB-BC2CDDE00165}"/>
              </a:ext>
            </a:extLst>
          </p:cNvPr>
          <p:cNvSpPr/>
          <p:nvPr/>
        </p:nvSpPr>
        <p:spPr>
          <a:xfrm>
            <a:off x="6242472" y="3700145"/>
            <a:ext cx="1106599" cy="72233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>
              <a:lnSpc>
                <a:spcPct val="100000"/>
              </a:lnSpc>
              <a:spcBef>
                <a:spcPts val="300"/>
              </a:spcBef>
            </a:pPr>
            <a:r>
              <a:rPr lang="ko-KR" altLang="en-US" sz="1200" b="1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조직</a:t>
            </a:r>
            <a:r>
              <a:rPr lang="en-US" altLang="ko-KR" sz="1200" b="1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200" b="1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프로세스</a:t>
            </a:r>
            <a:endParaRPr lang="en-US" altLang="ko-KR" sz="1200" b="1" kern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90488" indent="-80963" latinLnBrk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9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의사결정</a:t>
            </a:r>
            <a:endParaRPr lang="en-US" altLang="ko-KR" sz="900" kern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90488" indent="-80963" latinLnBrk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9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및 보고 등</a:t>
            </a: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D4208892-94C8-C3D0-D285-2C3344313278}"/>
              </a:ext>
            </a:extLst>
          </p:cNvPr>
          <p:cNvSpPr/>
          <p:nvPr/>
        </p:nvSpPr>
        <p:spPr>
          <a:xfrm>
            <a:off x="1264223" y="3155176"/>
            <a:ext cx="1088452" cy="46202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>
              <a:lnSpc>
                <a:spcPct val="100000"/>
              </a:lnSpc>
              <a:spcBef>
                <a:spcPts val="300"/>
              </a:spcBef>
            </a:pPr>
            <a:r>
              <a:rPr lang="ko-KR" altLang="en-US" sz="1200" b="1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조직가치</a:t>
            </a:r>
            <a:endParaRPr lang="ko-KR" altLang="en-US" sz="900" kern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6AAF926B-53FF-AEA8-7E10-77FF54BC49E4}"/>
              </a:ext>
            </a:extLst>
          </p:cNvPr>
          <p:cNvGrpSpPr/>
          <p:nvPr/>
        </p:nvGrpSpPr>
        <p:grpSpPr>
          <a:xfrm>
            <a:off x="466691" y="5184340"/>
            <a:ext cx="353291" cy="298673"/>
            <a:chOff x="6023581" y="4432718"/>
            <a:chExt cx="306763" cy="249690"/>
          </a:xfrm>
          <a:solidFill>
            <a:schemeClr val="bg1">
              <a:lumMod val="75000"/>
            </a:schemeClr>
          </a:solidFill>
        </p:grpSpPr>
        <p:sp>
          <p:nvSpPr>
            <p:cNvPr id="114" name="Freeform 8">
              <a:extLst>
                <a:ext uri="{FF2B5EF4-FFF2-40B4-BE49-F238E27FC236}">
                  <a16:creationId xmlns:a16="http://schemas.microsoft.com/office/drawing/2014/main" id="{92FE46D4-A9A3-8493-E6BF-31905717A4C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0295" y="4432718"/>
              <a:ext cx="280049" cy="144008"/>
            </a:xfrm>
            <a:custGeom>
              <a:avLst/>
              <a:gdLst/>
              <a:ahLst/>
              <a:cxnLst>
                <a:cxn ang="0">
                  <a:pos x="593" y="461"/>
                </a:cxn>
                <a:cxn ang="0">
                  <a:pos x="581" y="423"/>
                </a:cxn>
                <a:cxn ang="0">
                  <a:pos x="564" y="387"/>
                </a:cxn>
                <a:cxn ang="0">
                  <a:pos x="542" y="354"/>
                </a:cxn>
                <a:cxn ang="0">
                  <a:pos x="516" y="325"/>
                </a:cxn>
                <a:cxn ang="0">
                  <a:pos x="487" y="299"/>
                </a:cxn>
                <a:cxn ang="0">
                  <a:pos x="454" y="276"/>
                </a:cxn>
                <a:cxn ang="0">
                  <a:pos x="419" y="258"/>
                </a:cxn>
                <a:cxn ang="0">
                  <a:pos x="381" y="245"/>
                </a:cxn>
                <a:cxn ang="0">
                  <a:pos x="341" y="237"/>
                </a:cxn>
                <a:cxn ang="0">
                  <a:pos x="300" y="234"/>
                </a:cxn>
                <a:cxn ang="0">
                  <a:pos x="256" y="237"/>
                </a:cxn>
                <a:cxn ang="0">
                  <a:pos x="214" y="247"/>
                </a:cxn>
                <a:cxn ang="0">
                  <a:pos x="174" y="262"/>
                </a:cxn>
                <a:cxn ang="0">
                  <a:pos x="137" y="282"/>
                </a:cxn>
                <a:cxn ang="0">
                  <a:pos x="104" y="307"/>
                </a:cxn>
                <a:cxn ang="0">
                  <a:pos x="74" y="336"/>
                </a:cxn>
                <a:cxn ang="0">
                  <a:pos x="49" y="369"/>
                </a:cxn>
                <a:cxn ang="0">
                  <a:pos x="28" y="405"/>
                </a:cxn>
                <a:cxn ang="0">
                  <a:pos x="13" y="445"/>
                </a:cxn>
                <a:cxn ang="0">
                  <a:pos x="3" y="487"/>
                </a:cxn>
                <a:cxn ang="0">
                  <a:pos x="3" y="488"/>
                </a:cxn>
                <a:cxn ang="0">
                  <a:pos x="15" y="413"/>
                </a:cxn>
                <a:cxn ang="0">
                  <a:pos x="36" y="341"/>
                </a:cxn>
                <a:cxn ang="0">
                  <a:pos x="66" y="275"/>
                </a:cxn>
                <a:cxn ang="0">
                  <a:pos x="103" y="213"/>
                </a:cxn>
                <a:cxn ang="0">
                  <a:pos x="147" y="158"/>
                </a:cxn>
                <a:cxn ang="0">
                  <a:pos x="198" y="110"/>
                </a:cxn>
                <a:cxn ang="0">
                  <a:pos x="255" y="70"/>
                </a:cxn>
                <a:cxn ang="0">
                  <a:pos x="316" y="38"/>
                </a:cxn>
                <a:cxn ang="0">
                  <a:pos x="382" y="15"/>
                </a:cxn>
                <a:cxn ang="0">
                  <a:pos x="416" y="7"/>
                </a:cxn>
                <a:cxn ang="0">
                  <a:pos x="452" y="2"/>
                </a:cxn>
                <a:cxn ang="0">
                  <a:pos x="487" y="0"/>
                </a:cxn>
                <a:cxn ang="0">
                  <a:pos x="524" y="1"/>
                </a:cxn>
                <a:cxn ang="0">
                  <a:pos x="559" y="4"/>
                </a:cxn>
                <a:cxn ang="0">
                  <a:pos x="594" y="10"/>
                </a:cxn>
                <a:cxn ang="0">
                  <a:pos x="639" y="22"/>
                </a:cxn>
                <a:cxn ang="0">
                  <a:pos x="703" y="47"/>
                </a:cxn>
                <a:cxn ang="0">
                  <a:pos x="762" y="82"/>
                </a:cxn>
                <a:cxn ang="0">
                  <a:pos x="817" y="125"/>
                </a:cxn>
                <a:cxn ang="0">
                  <a:pos x="865" y="175"/>
                </a:cxn>
                <a:cxn ang="0">
                  <a:pos x="907" y="233"/>
                </a:cxn>
                <a:cxn ang="0">
                  <a:pos x="942" y="296"/>
                </a:cxn>
                <a:cxn ang="0">
                  <a:pos x="969" y="364"/>
                </a:cxn>
                <a:cxn ang="0">
                  <a:pos x="987" y="437"/>
                </a:cxn>
                <a:cxn ang="0">
                  <a:pos x="1093" y="487"/>
                </a:cxn>
                <a:cxn ang="0">
                  <a:pos x="599" y="487"/>
                </a:cxn>
              </a:cxnLst>
              <a:rect l="0" t="0" r="r" b="b"/>
              <a:pathLst>
                <a:path w="1093" h="649">
                  <a:moveTo>
                    <a:pt x="599" y="487"/>
                  </a:moveTo>
                  <a:lnTo>
                    <a:pt x="597" y="474"/>
                  </a:lnTo>
                  <a:lnTo>
                    <a:pt x="593" y="461"/>
                  </a:lnTo>
                  <a:lnTo>
                    <a:pt x="590" y="448"/>
                  </a:lnTo>
                  <a:lnTo>
                    <a:pt x="586" y="435"/>
                  </a:lnTo>
                  <a:lnTo>
                    <a:pt x="581" y="423"/>
                  </a:lnTo>
                  <a:lnTo>
                    <a:pt x="576" y="411"/>
                  </a:lnTo>
                  <a:lnTo>
                    <a:pt x="570" y="399"/>
                  </a:lnTo>
                  <a:lnTo>
                    <a:pt x="564" y="387"/>
                  </a:lnTo>
                  <a:lnTo>
                    <a:pt x="557" y="376"/>
                  </a:lnTo>
                  <a:lnTo>
                    <a:pt x="549" y="365"/>
                  </a:lnTo>
                  <a:lnTo>
                    <a:pt x="542" y="354"/>
                  </a:lnTo>
                  <a:lnTo>
                    <a:pt x="534" y="344"/>
                  </a:lnTo>
                  <a:lnTo>
                    <a:pt x="525" y="334"/>
                  </a:lnTo>
                  <a:lnTo>
                    <a:pt x="516" y="325"/>
                  </a:lnTo>
                  <a:lnTo>
                    <a:pt x="507" y="316"/>
                  </a:lnTo>
                  <a:lnTo>
                    <a:pt x="497" y="307"/>
                  </a:lnTo>
                  <a:lnTo>
                    <a:pt x="487" y="299"/>
                  </a:lnTo>
                  <a:lnTo>
                    <a:pt x="476" y="291"/>
                  </a:lnTo>
                  <a:lnTo>
                    <a:pt x="465" y="283"/>
                  </a:lnTo>
                  <a:lnTo>
                    <a:pt x="454" y="276"/>
                  </a:lnTo>
                  <a:lnTo>
                    <a:pt x="443" y="270"/>
                  </a:lnTo>
                  <a:lnTo>
                    <a:pt x="431" y="264"/>
                  </a:lnTo>
                  <a:lnTo>
                    <a:pt x="419" y="258"/>
                  </a:lnTo>
                  <a:lnTo>
                    <a:pt x="407" y="253"/>
                  </a:lnTo>
                  <a:lnTo>
                    <a:pt x="394" y="249"/>
                  </a:lnTo>
                  <a:lnTo>
                    <a:pt x="381" y="245"/>
                  </a:lnTo>
                  <a:lnTo>
                    <a:pt x="368" y="242"/>
                  </a:lnTo>
                  <a:lnTo>
                    <a:pt x="355" y="239"/>
                  </a:lnTo>
                  <a:lnTo>
                    <a:pt x="341" y="237"/>
                  </a:lnTo>
                  <a:lnTo>
                    <a:pt x="328" y="235"/>
                  </a:lnTo>
                  <a:lnTo>
                    <a:pt x="314" y="234"/>
                  </a:lnTo>
                  <a:lnTo>
                    <a:pt x="300" y="234"/>
                  </a:lnTo>
                  <a:lnTo>
                    <a:pt x="285" y="234"/>
                  </a:lnTo>
                  <a:lnTo>
                    <a:pt x="270" y="235"/>
                  </a:lnTo>
                  <a:lnTo>
                    <a:pt x="256" y="237"/>
                  </a:lnTo>
                  <a:lnTo>
                    <a:pt x="242" y="240"/>
                  </a:lnTo>
                  <a:lnTo>
                    <a:pt x="228" y="243"/>
                  </a:lnTo>
                  <a:lnTo>
                    <a:pt x="214" y="247"/>
                  </a:lnTo>
                  <a:lnTo>
                    <a:pt x="200" y="251"/>
                  </a:lnTo>
                  <a:lnTo>
                    <a:pt x="187" y="256"/>
                  </a:lnTo>
                  <a:lnTo>
                    <a:pt x="174" y="262"/>
                  </a:lnTo>
                  <a:lnTo>
                    <a:pt x="162" y="268"/>
                  </a:lnTo>
                  <a:lnTo>
                    <a:pt x="149" y="274"/>
                  </a:lnTo>
                  <a:lnTo>
                    <a:pt x="137" y="282"/>
                  </a:lnTo>
                  <a:lnTo>
                    <a:pt x="126" y="290"/>
                  </a:lnTo>
                  <a:lnTo>
                    <a:pt x="115" y="298"/>
                  </a:lnTo>
                  <a:lnTo>
                    <a:pt x="104" y="307"/>
                  </a:lnTo>
                  <a:lnTo>
                    <a:pt x="94" y="316"/>
                  </a:lnTo>
                  <a:lnTo>
                    <a:pt x="84" y="326"/>
                  </a:lnTo>
                  <a:lnTo>
                    <a:pt x="74" y="336"/>
                  </a:lnTo>
                  <a:lnTo>
                    <a:pt x="65" y="347"/>
                  </a:lnTo>
                  <a:lnTo>
                    <a:pt x="57" y="358"/>
                  </a:lnTo>
                  <a:lnTo>
                    <a:pt x="49" y="369"/>
                  </a:lnTo>
                  <a:lnTo>
                    <a:pt x="42" y="381"/>
                  </a:lnTo>
                  <a:lnTo>
                    <a:pt x="35" y="393"/>
                  </a:lnTo>
                  <a:lnTo>
                    <a:pt x="28" y="405"/>
                  </a:lnTo>
                  <a:lnTo>
                    <a:pt x="23" y="418"/>
                  </a:lnTo>
                  <a:lnTo>
                    <a:pt x="17" y="431"/>
                  </a:lnTo>
                  <a:lnTo>
                    <a:pt x="13" y="445"/>
                  </a:lnTo>
                  <a:lnTo>
                    <a:pt x="9" y="459"/>
                  </a:lnTo>
                  <a:lnTo>
                    <a:pt x="6" y="473"/>
                  </a:lnTo>
                  <a:lnTo>
                    <a:pt x="3" y="487"/>
                  </a:lnTo>
                  <a:lnTo>
                    <a:pt x="1" y="501"/>
                  </a:lnTo>
                  <a:lnTo>
                    <a:pt x="0" y="516"/>
                  </a:lnTo>
                  <a:lnTo>
                    <a:pt x="3" y="488"/>
                  </a:lnTo>
                  <a:lnTo>
                    <a:pt x="6" y="463"/>
                  </a:lnTo>
                  <a:lnTo>
                    <a:pt x="10" y="438"/>
                  </a:lnTo>
                  <a:lnTo>
                    <a:pt x="15" y="413"/>
                  </a:lnTo>
                  <a:lnTo>
                    <a:pt x="21" y="389"/>
                  </a:lnTo>
                  <a:lnTo>
                    <a:pt x="28" y="365"/>
                  </a:lnTo>
                  <a:lnTo>
                    <a:pt x="36" y="341"/>
                  </a:lnTo>
                  <a:lnTo>
                    <a:pt x="45" y="319"/>
                  </a:lnTo>
                  <a:lnTo>
                    <a:pt x="55" y="296"/>
                  </a:lnTo>
                  <a:lnTo>
                    <a:pt x="66" y="275"/>
                  </a:lnTo>
                  <a:lnTo>
                    <a:pt x="77" y="253"/>
                  </a:lnTo>
                  <a:lnTo>
                    <a:pt x="90" y="233"/>
                  </a:lnTo>
                  <a:lnTo>
                    <a:pt x="103" y="213"/>
                  </a:lnTo>
                  <a:lnTo>
                    <a:pt x="117" y="194"/>
                  </a:lnTo>
                  <a:lnTo>
                    <a:pt x="132" y="176"/>
                  </a:lnTo>
                  <a:lnTo>
                    <a:pt x="147" y="158"/>
                  </a:lnTo>
                  <a:lnTo>
                    <a:pt x="164" y="141"/>
                  </a:lnTo>
                  <a:lnTo>
                    <a:pt x="181" y="125"/>
                  </a:lnTo>
                  <a:lnTo>
                    <a:pt x="198" y="110"/>
                  </a:lnTo>
                  <a:lnTo>
                    <a:pt x="217" y="96"/>
                  </a:lnTo>
                  <a:lnTo>
                    <a:pt x="235" y="82"/>
                  </a:lnTo>
                  <a:lnTo>
                    <a:pt x="255" y="70"/>
                  </a:lnTo>
                  <a:lnTo>
                    <a:pt x="275" y="58"/>
                  </a:lnTo>
                  <a:lnTo>
                    <a:pt x="295" y="47"/>
                  </a:lnTo>
                  <a:lnTo>
                    <a:pt x="316" y="38"/>
                  </a:lnTo>
                  <a:lnTo>
                    <a:pt x="338" y="29"/>
                  </a:lnTo>
                  <a:lnTo>
                    <a:pt x="360" y="22"/>
                  </a:lnTo>
                  <a:lnTo>
                    <a:pt x="382" y="15"/>
                  </a:lnTo>
                  <a:lnTo>
                    <a:pt x="394" y="12"/>
                  </a:lnTo>
                  <a:lnTo>
                    <a:pt x="405" y="10"/>
                  </a:lnTo>
                  <a:lnTo>
                    <a:pt x="416" y="7"/>
                  </a:lnTo>
                  <a:lnTo>
                    <a:pt x="428" y="6"/>
                  </a:lnTo>
                  <a:lnTo>
                    <a:pt x="440" y="4"/>
                  </a:lnTo>
                  <a:lnTo>
                    <a:pt x="452" y="2"/>
                  </a:lnTo>
                  <a:lnTo>
                    <a:pt x="463" y="1"/>
                  </a:lnTo>
                  <a:lnTo>
                    <a:pt x="475" y="1"/>
                  </a:lnTo>
                  <a:lnTo>
                    <a:pt x="487" y="0"/>
                  </a:lnTo>
                  <a:lnTo>
                    <a:pt x="499" y="0"/>
                  </a:lnTo>
                  <a:lnTo>
                    <a:pt x="512" y="0"/>
                  </a:lnTo>
                  <a:lnTo>
                    <a:pt x="524" y="1"/>
                  </a:lnTo>
                  <a:lnTo>
                    <a:pt x="535" y="1"/>
                  </a:lnTo>
                  <a:lnTo>
                    <a:pt x="547" y="2"/>
                  </a:lnTo>
                  <a:lnTo>
                    <a:pt x="559" y="4"/>
                  </a:lnTo>
                  <a:lnTo>
                    <a:pt x="571" y="6"/>
                  </a:lnTo>
                  <a:lnTo>
                    <a:pt x="582" y="7"/>
                  </a:lnTo>
                  <a:lnTo>
                    <a:pt x="594" y="10"/>
                  </a:lnTo>
                  <a:lnTo>
                    <a:pt x="605" y="12"/>
                  </a:lnTo>
                  <a:lnTo>
                    <a:pt x="616" y="15"/>
                  </a:lnTo>
                  <a:lnTo>
                    <a:pt x="639" y="22"/>
                  </a:lnTo>
                  <a:lnTo>
                    <a:pt x="661" y="29"/>
                  </a:lnTo>
                  <a:lnTo>
                    <a:pt x="682" y="38"/>
                  </a:lnTo>
                  <a:lnTo>
                    <a:pt x="703" y="47"/>
                  </a:lnTo>
                  <a:lnTo>
                    <a:pt x="723" y="58"/>
                  </a:lnTo>
                  <a:lnTo>
                    <a:pt x="743" y="70"/>
                  </a:lnTo>
                  <a:lnTo>
                    <a:pt x="762" y="82"/>
                  </a:lnTo>
                  <a:lnTo>
                    <a:pt x="781" y="96"/>
                  </a:lnTo>
                  <a:lnTo>
                    <a:pt x="799" y="110"/>
                  </a:lnTo>
                  <a:lnTo>
                    <a:pt x="817" y="125"/>
                  </a:lnTo>
                  <a:lnTo>
                    <a:pt x="834" y="141"/>
                  </a:lnTo>
                  <a:lnTo>
                    <a:pt x="850" y="158"/>
                  </a:lnTo>
                  <a:lnTo>
                    <a:pt x="865" y="175"/>
                  </a:lnTo>
                  <a:lnTo>
                    <a:pt x="880" y="194"/>
                  </a:lnTo>
                  <a:lnTo>
                    <a:pt x="894" y="213"/>
                  </a:lnTo>
                  <a:lnTo>
                    <a:pt x="907" y="233"/>
                  </a:lnTo>
                  <a:lnTo>
                    <a:pt x="920" y="253"/>
                  </a:lnTo>
                  <a:lnTo>
                    <a:pt x="931" y="274"/>
                  </a:lnTo>
                  <a:lnTo>
                    <a:pt x="942" y="296"/>
                  </a:lnTo>
                  <a:lnTo>
                    <a:pt x="952" y="318"/>
                  </a:lnTo>
                  <a:lnTo>
                    <a:pt x="961" y="341"/>
                  </a:lnTo>
                  <a:lnTo>
                    <a:pt x="969" y="364"/>
                  </a:lnTo>
                  <a:lnTo>
                    <a:pt x="976" y="388"/>
                  </a:lnTo>
                  <a:lnTo>
                    <a:pt x="982" y="412"/>
                  </a:lnTo>
                  <a:lnTo>
                    <a:pt x="987" y="437"/>
                  </a:lnTo>
                  <a:lnTo>
                    <a:pt x="991" y="462"/>
                  </a:lnTo>
                  <a:lnTo>
                    <a:pt x="994" y="487"/>
                  </a:lnTo>
                  <a:lnTo>
                    <a:pt x="1093" y="487"/>
                  </a:lnTo>
                  <a:lnTo>
                    <a:pt x="788" y="649"/>
                  </a:lnTo>
                  <a:lnTo>
                    <a:pt x="497" y="487"/>
                  </a:lnTo>
                  <a:lnTo>
                    <a:pt x="599" y="487"/>
                  </a:lnTo>
                  <a:lnTo>
                    <a:pt x="599" y="487"/>
                  </a:lnTo>
                  <a:close/>
                </a:path>
              </a:pathLst>
            </a:custGeom>
            <a:grpFill/>
            <a:ln w="9525" cap="flat" cmpd="sng">
              <a:noFill/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>
                <a:latin typeface="+mn-ea"/>
                <a:ea typeface="+mn-ea"/>
              </a:endParaRPr>
            </a:p>
          </p:txBody>
        </p:sp>
        <p:sp>
          <p:nvSpPr>
            <p:cNvPr id="115" name="Freeform 9">
              <a:extLst>
                <a:ext uri="{FF2B5EF4-FFF2-40B4-BE49-F238E27FC236}">
                  <a16:creationId xmlns:a16="http://schemas.microsoft.com/office/drawing/2014/main" id="{06FFC139-BFFB-5CE0-C644-83F197B70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3581" y="4538400"/>
              <a:ext cx="280349" cy="144008"/>
            </a:xfrm>
            <a:custGeom>
              <a:avLst/>
              <a:gdLst/>
              <a:ahLst/>
              <a:cxnLst>
                <a:cxn ang="0">
                  <a:pos x="499" y="188"/>
                </a:cxn>
                <a:cxn ang="0">
                  <a:pos x="512" y="226"/>
                </a:cxn>
                <a:cxn ang="0">
                  <a:pos x="529" y="262"/>
                </a:cxn>
                <a:cxn ang="0">
                  <a:pos x="551" y="295"/>
                </a:cxn>
                <a:cxn ang="0">
                  <a:pos x="577" y="324"/>
                </a:cxn>
                <a:cxn ang="0">
                  <a:pos x="606" y="350"/>
                </a:cxn>
                <a:cxn ang="0">
                  <a:pos x="639" y="373"/>
                </a:cxn>
                <a:cxn ang="0">
                  <a:pos x="674" y="391"/>
                </a:cxn>
                <a:cxn ang="0">
                  <a:pos x="712" y="404"/>
                </a:cxn>
                <a:cxn ang="0">
                  <a:pos x="751" y="412"/>
                </a:cxn>
                <a:cxn ang="0">
                  <a:pos x="793" y="415"/>
                </a:cxn>
                <a:cxn ang="0">
                  <a:pos x="837" y="412"/>
                </a:cxn>
                <a:cxn ang="0">
                  <a:pos x="879" y="402"/>
                </a:cxn>
                <a:cxn ang="0">
                  <a:pos x="919" y="387"/>
                </a:cxn>
                <a:cxn ang="0">
                  <a:pos x="955" y="367"/>
                </a:cxn>
                <a:cxn ang="0">
                  <a:pos x="989" y="342"/>
                </a:cxn>
                <a:cxn ang="0">
                  <a:pos x="1018" y="313"/>
                </a:cxn>
                <a:cxn ang="0">
                  <a:pos x="1044" y="280"/>
                </a:cxn>
                <a:cxn ang="0">
                  <a:pos x="1064" y="244"/>
                </a:cxn>
                <a:cxn ang="0">
                  <a:pos x="1080" y="204"/>
                </a:cxn>
                <a:cxn ang="0">
                  <a:pos x="1090" y="162"/>
                </a:cxn>
                <a:cxn ang="0">
                  <a:pos x="1090" y="161"/>
                </a:cxn>
                <a:cxn ang="0">
                  <a:pos x="1078" y="236"/>
                </a:cxn>
                <a:cxn ang="0">
                  <a:pos x="1057" y="308"/>
                </a:cxn>
                <a:cxn ang="0">
                  <a:pos x="1027" y="374"/>
                </a:cxn>
                <a:cxn ang="0">
                  <a:pos x="990" y="436"/>
                </a:cxn>
                <a:cxn ang="0">
                  <a:pos x="945" y="491"/>
                </a:cxn>
                <a:cxn ang="0">
                  <a:pos x="894" y="539"/>
                </a:cxn>
                <a:cxn ang="0">
                  <a:pos x="838" y="579"/>
                </a:cxn>
                <a:cxn ang="0">
                  <a:pos x="776" y="611"/>
                </a:cxn>
                <a:cxn ang="0">
                  <a:pos x="711" y="634"/>
                </a:cxn>
                <a:cxn ang="0">
                  <a:pos x="676" y="642"/>
                </a:cxn>
                <a:cxn ang="0">
                  <a:pos x="641" y="647"/>
                </a:cxn>
                <a:cxn ang="0">
                  <a:pos x="605" y="649"/>
                </a:cxn>
                <a:cxn ang="0">
                  <a:pos x="569" y="648"/>
                </a:cxn>
                <a:cxn ang="0">
                  <a:pos x="534" y="645"/>
                </a:cxn>
                <a:cxn ang="0">
                  <a:pos x="499" y="639"/>
                </a:cxn>
                <a:cxn ang="0">
                  <a:pos x="454" y="627"/>
                </a:cxn>
                <a:cxn ang="0">
                  <a:pos x="390" y="602"/>
                </a:cxn>
                <a:cxn ang="0">
                  <a:pos x="330" y="567"/>
                </a:cxn>
                <a:cxn ang="0">
                  <a:pos x="276" y="524"/>
                </a:cxn>
                <a:cxn ang="0">
                  <a:pos x="227" y="474"/>
                </a:cxn>
                <a:cxn ang="0">
                  <a:pos x="186" y="416"/>
                </a:cxn>
                <a:cxn ang="0">
                  <a:pos x="151" y="353"/>
                </a:cxn>
                <a:cxn ang="0">
                  <a:pos x="124" y="285"/>
                </a:cxn>
                <a:cxn ang="0">
                  <a:pos x="106" y="212"/>
                </a:cxn>
                <a:cxn ang="0">
                  <a:pos x="0" y="162"/>
                </a:cxn>
                <a:cxn ang="0">
                  <a:pos x="494" y="162"/>
                </a:cxn>
              </a:cxnLst>
              <a:rect l="0" t="0" r="r" b="b"/>
              <a:pathLst>
                <a:path w="1093" h="649">
                  <a:moveTo>
                    <a:pt x="494" y="162"/>
                  </a:moveTo>
                  <a:lnTo>
                    <a:pt x="496" y="175"/>
                  </a:lnTo>
                  <a:lnTo>
                    <a:pt x="499" y="188"/>
                  </a:lnTo>
                  <a:lnTo>
                    <a:pt x="503" y="201"/>
                  </a:lnTo>
                  <a:lnTo>
                    <a:pt x="507" y="214"/>
                  </a:lnTo>
                  <a:lnTo>
                    <a:pt x="512" y="226"/>
                  </a:lnTo>
                  <a:lnTo>
                    <a:pt x="517" y="238"/>
                  </a:lnTo>
                  <a:lnTo>
                    <a:pt x="523" y="250"/>
                  </a:lnTo>
                  <a:lnTo>
                    <a:pt x="529" y="262"/>
                  </a:lnTo>
                  <a:lnTo>
                    <a:pt x="536" y="273"/>
                  </a:lnTo>
                  <a:lnTo>
                    <a:pt x="543" y="284"/>
                  </a:lnTo>
                  <a:lnTo>
                    <a:pt x="551" y="295"/>
                  </a:lnTo>
                  <a:lnTo>
                    <a:pt x="559" y="305"/>
                  </a:lnTo>
                  <a:lnTo>
                    <a:pt x="568" y="315"/>
                  </a:lnTo>
                  <a:lnTo>
                    <a:pt x="577" y="324"/>
                  </a:lnTo>
                  <a:lnTo>
                    <a:pt x="586" y="333"/>
                  </a:lnTo>
                  <a:lnTo>
                    <a:pt x="596" y="342"/>
                  </a:lnTo>
                  <a:lnTo>
                    <a:pt x="606" y="350"/>
                  </a:lnTo>
                  <a:lnTo>
                    <a:pt x="617" y="358"/>
                  </a:lnTo>
                  <a:lnTo>
                    <a:pt x="627" y="366"/>
                  </a:lnTo>
                  <a:lnTo>
                    <a:pt x="639" y="373"/>
                  </a:lnTo>
                  <a:lnTo>
                    <a:pt x="650" y="379"/>
                  </a:lnTo>
                  <a:lnTo>
                    <a:pt x="662" y="385"/>
                  </a:lnTo>
                  <a:lnTo>
                    <a:pt x="674" y="391"/>
                  </a:lnTo>
                  <a:lnTo>
                    <a:pt x="686" y="396"/>
                  </a:lnTo>
                  <a:lnTo>
                    <a:pt x="699" y="400"/>
                  </a:lnTo>
                  <a:lnTo>
                    <a:pt x="712" y="404"/>
                  </a:lnTo>
                  <a:lnTo>
                    <a:pt x="725" y="407"/>
                  </a:lnTo>
                  <a:lnTo>
                    <a:pt x="738" y="410"/>
                  </a:lnTo>
                  <a:lnTo>
                    <a:pt x="751" y="412"/>
                  </a:lnTo>
                  <a:lnTo>
                    <a:pt x="765" y="414"/>
                  </a:lnTo>
                  <a:lnTo>
                    <a:pt x="779" y="415"/>
                  </a:lnTo>
                  <a:lnTo>
                    <a:pt x="793" y="415"/>
                  </a:lnTo>
                  <a:lnTo>
                    <a:pt x="808" y="415"/>
                  </a:lnTo>
                  <a:lnTo>
                    <a:pt x="822" y="414"/>
                  </a:lnTo>
                  <a:lnTo>
                    <a:pt x="837" y="412"/>
                  </a:lnTo>
                  <a:lnTo>
                    <a:pt x="851" y="409"/>
                  </a:lnTo>
                  <a:lnTo>
                    <a:pt x="865" y="406"/>
                  </a:lnTo>
                  <a:lnTo>
                    <a:pt x="879" y="402"/>
                  </a:lnTo>
                  <a:lnTo>
                    <a:pt x="892" y="398"/>
                  </a:lnTo>
                  <a:lnTo>
                    <a:pt x="906" y="393"/>
                  </a:lnTo>
                  <a:lnTo>
                    <a:pt x="919" y="387"/>
                  </a:lnTo>
                  <a:lnTo>
                    <a:pt x="931" y="381"/>
                  </a:lnTo>
                  <a:lnTo>
                    <a:pt x="943" y="375"/>
                  </a:lnTo>
                  <a:lnTo>
                    <a:pt x="955" y="367"/>
                  </a:lnTo>
                  <a:lnTo>
                    <a:pt x="967" y="359"/>
                  </a:lnTo>
                  <a:lnTo>
                    <a:pt x="978" y="351"/>
                  </a:lnTo>
                  <a:lnTo>
                    <a:pt x="989" y="342"/>
                  </a:lnTo>
                  <a:lnTo>
                    <a:pt x="999" y="333"/>
                  </a:lnTo>
                  <a:lnTo>
                    <a:pt x="1009" y="323"/>
                  </a:lnTo>
                  <a:lnTo>
                    <a:pt x="1018" y="313"/>
                  </a:lnTo>
                  <a:lnTo>
                    <a:pt x="1027" y="303"/>
                  </a:lnTo>
                  <a:lnTo>
                    <a:pt x="1036" y="291"/>
                  </a:lnTo>
                  <a:lnTo>
                    <a:pt x="1044" y="280"/>
                  </a:lnTo>
                  <a:lnTo>
                    <a:pt x="1051" y="268"/>
                  </a:lnTo>
                  <a:lnTo>
                    <a:pt x="1058" y="256"/>
                  </a:lnTo>
                  <a:lnTo>
                    <a:pt x="1064" y="244"/>
                  </a:lnTo>
                  <a:lnTo>
                    <a:pt x="1070" y="231"/>
                  </a:lnTo>
                  <a:lnTo>
                    <a:pt x="1075" y="218"/>
                  </a:lnTo>
                  <a:lnTo>
                    <a:pt x="1080" y="204"/>
                  </a:lnTo>
                  <a:lnTo>
                    <a:pt x="1084" y="190"/>
                  </a:lnTo>
                  <a:lnTo>
                    <a:pt x="1087" y="177"/>
                  </a:lnTo>
                  <a:lnTo>
                    <a:pt x="1090" y="162"/>
                  </a:lnTo>
                  <a:lnTo>
                    <a:pt x="1092" y="148"/>
                  </a:lnTo>
                  <a:lnTo>
                    <a:pt x="1093" y="133"/>
                  </a:lnTo>
                  <a:lnTo>
                    <a:pt x="1090" y="161"/>
                  </a:lnTo>
                  <a:lnTo>
                    <a:pt x="1087" y="186"/>
                  </a:lnTo>
                  <a:lnTo>
                    <a:pt x="1083" y="211"/>
                  </a:lnTo>
                  <a:lnTo>
                    <a:pt x="1078" y="236"/>
                  </a:lnTo>
                  <a:lnTo>
                    <a:pt x="1072" y="261"/>
                  </a:lnTo>
                  <a:lnTo>
                    <a:pt x="1065" y="284"/>
                  </a:lnTo>
                  <a:lnTo>
                    <a:pt x="1057" y="308"/>
                  </a:lnTo>
                  <a:lnTo>
                    <a:pt x="1048" y="330"/>
                  </a:lnTo>
                  <a:lnTo>
                    <a:pt x="1038" y="353"/>
                  </a:lnTo>
                  <a:lnTo>
                    <a:pt x="1027" y="374"/>
                  </a:lnTo>
                  <a:lnTo>
                    <a:pt x="1016" y="396"/>
                  </a:lnTo>
                  <a:lnTo>
                    <a:pt x="1003" y="416"/>
                  </a:lnTo>
                  <a:lnTo>
                    <a:pt x="990" y="436"/>
                  </a:lnTo>
                  <a:lnTo>
                    <a:pt x="976" y="455"/>
                  </a:lnTo>
                  <a:lnTo>
                    <a:pt x="961" y="473"/>
                  </a:lnTo>
                  <a:lnTo>
                    <a:pt x="945" y="491"/>
                  </a:lnTo>
                  <a:lnTo>
                    <a:pt x="929" y="508"/>
                  </a:lnTo>
                  <a:lnTo>
                    <a:pt x="912" y="524"/>
                  </a:lnTo>
                  <a:lnTo>
                    <a:pt x="894" y="539"/>
                  </a:lnTo>
                  <a:lnTo>
                    <a:pt x="876" y="553"/>
                  </a:lnTo>
                  <a:lnTo>
                    <a:pt x="857" y="567"/>
                  </a:lnTo>
                  <a:lnTo>
                    <a:pt x="838" y="579"/>
                  </a:lnTo>
                  <a:lnTo>
                    <a:pt x="818" y="591"/>
                  </a:lnTo>
                  <a:lnTo>
                    <a:pt x="797" y="602"/>
                  </a:lnTo>
                  <a:lnTo>
                    <a:pt x="776" y="611"/>
                  </a:lnTo>
                  <a:lnTo>
                    <a:pt x="755" y="620"/>
                  </a:lnTo>
                  <a:lnTo>
                    <a:pt x="733" y="627"/>
                  </a:lnTo>
                  <a:lnTo>
                    <a:pt x="711" y="634"/>
                  </a:lnTo>
                  <a:lnTo>
                    <a:pt x="699" y="637"/>
                  </a:lnTo>
                  <a:lnTo>
                    <a:pt x="688" y="639"/>
                  </a:lnTo>
                  <a:lnTo>
                    <a:pt x="676" y="642"/>
                  </a:lnTo>
                  <a:lnTo>
                    <a:pt x="665" y="644"/>
                  </a:lnTo>
                  <a:lnTo>
                    <a:pt x="653" y="645"/>
                  </a:lnTo>
                  <a:lnTo>
                    <a:pt x="641" y="647"/>
                  </a:lnTo>
                  <a:lnTo>
                    <a:pt x="629" y="648"/>
                  </a:lnTo>
                  <a:lnTo>
                    <a:pt x="617" y="648"/>
                  </a:lnTo>
                  <a:lnTo>
                    <a:pt x="605" y="649"/>
                  </a:lnTo>
                  <a:lnTo>
                    <a:pt x="593" y="649"/>
                  </a:lnTo>
                  <a:lnTo>
                    <a:pt x="581" y="649"/>
                  </a:lnTo>
                  <a:lnTo>
                    <a:pt x="569" y="648"/>
                  </a:lnTo>
                  <a:lnTo>
                    <a:pt x="557" y="648"/>
                  </a:lnTo>
                  <a:lnTo>
                    <a:pt x="545" y="647"/>
                  </a:lnTo>
                  <a:lnTo>
                    <a:pt x="534" y="645"/>
                  </a:lnTo>
                  <a:lnTo>
                    <a:pt x="522" y="644"/>
                  </a:lnTo>
                  <a:lnTo>
                    <a:pt x="510" y="642"/>
                  </a:lnTo>
                  <a:lnTo>
                    <a:pt x="499" y="639"/>
                  </a:lnTo>
                  <a:lnTo>
                    <a:pt x="488" y="637"/>
                  </a:lnTo>
                  <a:lnTo>
                    <a:pt x="476" y="634"/>
                  </a:lnTo>
                  <a:lnTo>
                    <a:pt x="454" y="627"/>
                  </a:lnTo>
                  <a:lnTo>
                    <a:pt x="432" y="620"/>
                  </a:lnTo>
                  <a:lnTo>
                    <a:pt x="411" y="611"/>
                  </a:lnTo>
                  <a:lnTo>
                    <a:pt x="390" y="602"/>
                  </a:lnTo>
                  <a:lnTo>
                    <a:pt x="370" y="591"/>
                  </a:lnTo>
                  <a:lnTo>
                    <a:pt x="350" y="580"/>
                  </a:lnTo>
                  <a:lnTo>
                    <a:pt x="330" y="567"/>
                  </a:lnTo>
                  <a:lnTo>
                    <a:pt x="312" y="554"/>
                  </a:lnTo>
                  <a:lnTo>
                    <a:pt x="293" y="539"/>
                  </a:lnTo>
                  <a:lnTo>
                    <a:pt x="276" y="524"/>
                  </a:lnTo>
                  <a:lnTo>
                    <a:pt x="259" y="508"/>
                  </a:lnTo>
                  <a:lnTo>
                    <a:pt x="243" y="491"/>
                  </a:lnTo>
                  <a:lnTo>
                    <a:pt x="227" y="474"/>
                  </a:lnTo>
                  <a:lnTo>
                    <a:pt x="213" y="455"/>
                  </a:lnTo>
                  <a:lnTo>
                    <a:pt x="199" y="436"/>
                  </a:lnTo>
                  <a:lnTo>
                    <a:pt x="186" y="416"/>
                  </a:lnTo>
                  <a:lnTo>
                    <a:pt x="173" y="396"/>
                  </a:lnTo>
                  <a:lnTo>
                    <a:pt x="162" y="375"/>
                  </a:lnTo>
                  <a:lnTo>
                    <a:pt x="151" y="353"/>
                  </a:lnTo>
                  <a:lnTo>
                    <a:pt x="141" y="331"/>
                  </a:lnTo>
                  <a:lnTo>
                    <a:pt x="132" y="308"/>
                  </a:lnTo>
                  <a:lnTo>
                    <a:pt x="124" y="285"/>
                  </a:lnTo>
                  <a:lnTo>
                    <a:pt x="117" y="261"/>
                  </a:lnTo>
                  <a:lnTo>
                    <a:pt x="111" y="237"/>
                  </a:lnTo>
                  <a:lnTo>
                    <a:pt x="106" y="212"/>
                  </a:lnTo>
                  <a:lnTo>
                    <a:pt x="102" y="187"/>
                  </a:lnTo>
                  <a:lnTo>
                    <a:pt x="99" y="162"/>
                  </a:lnTo>
                  <a:lnTo>
                    <a:pt x="0" y="162"/>
                  </a:lnTo>
                  <a:lnTo>
                    <a:pt x="305" y="0"/>
                  </a:lnTo>
                  <a:lnTo>
                    <a:pt x="596" y="162"/>
                  </a:lnTo>
                  <a:lnTo>
                    <a:pt x="494" y="162"/>
                  </a:lnTo>
                  <a:lnTo>
                    <a:pt x="494" y="162"/>
                  </a:lnTo>
                  <a:close/>
                </a:path>
              </a:pathLst>
            </a:custGeom>
            <a:grpFill/>
            <a:ln w="9525" cap="flat" cmpd="sng">
              <a:noFill/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1C8F944-743A-E615-8C87-1BD58C461DB2}"/>
              </a:ext>
            </a:extLst>
          </p:cNvPr>
          <p:cNvSpPr/>
          <p:nvPr/>
        </p:nvSpPr>
        <p:spPr>
          <a:xfrm>
            <a:off x="2471425" y="3155176"/>
            <a:ext cx="1088452" cy="46202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>
              <a:lnSpc>
                <a:spcPct val="100000"/>
              </a:lnSpc>
              <a:spcBef>
                <a:spcPts val="300"/>
              </a:spcBef>
            </a:pPr>
            <a:r>
              <a:rPr lang="ko-KR" altLang="en-US" sz="1200" b="1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경영전략</a:t>
            </a:r>
            <a:endParaRPr lang="ko-KR" altLang="en-US" sz="900" kern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17C4E13-CB0E-6D0D-2684-F56BB010011C}"/>
              </a:ext>
            </a:extLst>
          </p:cNvPr>
          <p:cNvSpPr/>
          <p:nvPr/>
        </p:nvSpPr>
        <p:spPr>
          <a:xfrm>
            <a:off x="1283125" y="3700144"/>
            <a:ext cx="1075226" cy="127740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>
              <a:lnSpc>
                <a:spcPct val="110000"/>
              </a:lnSpc>
              <a:spcBef>
                <a:spcPts val="300"/>
              </a:spcBef>
            </a:pPr>
            <a:r>
              <a:rPr lang="ko-KR" altLang="en-US" sz="1100" kern="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이해</a:t>
            </a:r>
            <a:r>
              <a:rPr lang="en-US" altLang="ko-KR" sz="1100" kern="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100" kern="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공감</a:t>
            </a:r>
            <a:r>
              <a:rPr lang="en-US" altLang="ko-KR" sz="1100" kern="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br>
              <a:rPr lang="en-US" altLang="ko-KR" sz="1100" kern="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100" kern="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실천의지 진단</a:t>
            </a:r>
          </a:p>
        </p:txBody>
      </p:sp>
    </p:spTree>
    <p:extLst>
      <p:ext uri="{BB962C8B-B14F-4D97-AF65-F5344CB8AC3E}">
        <p14:creationId xmlns:p14="http://schemas.microsoft.com/office/powerpoint/2010/main" val="762193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16081CC2-789B-3CF8-4159-49927EB4DAA5}"/>
              </a:ext>
            </a:extLst>
          </p:cNvPr>
          <p:cNvSpPr txBox="1"/>
          <p:nvPr/>
        </p:nvSpPr>
        <p:spPr>
          <a:xfrm>
            <a:off x="2037848" y="448714"/>
            <a:ext cx="7478111" cy="235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900" b="1" kern="0">
                <a:solidFill>
                  <a:schemeClr val="accent4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srgbClr val="066FA5"/>
                </a:solidFill>
                <a:effectLst/>
                <a:uLnTx/>
                <a:uFillTx/>
                <a:latin typeface="나눔바른고딕"/>
                <a:ea typeface="나눔바른고딕"/>
                <a:cs typeface="+mn-cs"/>
              </a:rPr>
              <a:t>+ </a:t>
            </a:r>
            <a:r>
              <a:rPr kumimoji="0" lang="en-US" altLang="ko-KR" sz="900">
                <a:latin typeface="나눔바른고딕"/>
                <a:ea typeface="나눔바른고딕"/>
              </a:rPr>
              <a:t>: </a:t>
            </a:r>
            <a:r>
              <a:rPr kumimoji="0" lang="ko-KR" altLang="en-US" sz="900">
                <a:latin typeface="나눔바른고딕"/>
                <a:ea typeface="나눔바른고딕"/>
              </a:rPr>
              <a:t>전년 대비 </a:t>
            </a:r>
            <a:r>
              <a:rPr kumimoji="0" lang="en-US" altLang="ko-KR" sz="900">
                <a:latin typeface="나눔바른고딕"/>
                <a:ea typeface="나눔바른고딕"/>
              </a:rPr>
              <a:t>GAP /           : </a:t>
            </a:r>
            <a:r>
              <a:rPr kumimoji="0" lang="ko-KR" altLang="en-US" sz="900">
                <a:latin typeface="나눔바른고딕"/>
                <a:ea typeface="나눔바른고딕"/>
              </a:rPr>
              <a:t>상관계수 </a:t>
            </a:r>
            <a:r>
              <a:rPr kumimoji="0" lang="en-US" altLang="ko-KR" sz="900">
                <a:latin typeface="나눔바른고딕"/>
                <a:ea typeface="나눔바른고딕"/>
              </a:rPr>
              <a:t>±0.4 </a:t>
            </a:r>
            <a:r>
              <a:rPr kumimoji="0" lang="ko-KR" altLang="en-US" sz="900">
                <a:latin typeface="나눔바른고딕"/>
                <a:ea typeface="나눔바른고딕"/>
              </a:rPr>
              <a:t>이상 </a:t>
            </a:r>
            <a:r>
              <a:rPr kumimoji="0" lang="en-US" altLang="ko-KR" sz="900">
                <a:latin typeface="나눔바른고딕"/>
                <a:ea typeface="나눔바른고딕"/>
              </a:rPr>
              <a:t>/           : </a:t>
            </a:r>
            <a:r>
              <a:rPr kumimoji="0" lang="ko-KR" altLang="en-US" sz="900">
                <a:latin typeface="나눔바른고딕"/>
                <a:ea typeface="나눔바른고딕"/>
              </a:rPr>
              <a:t>회귀계수</a:t>
            </a:r>
            <a:r>
              <a:rPr kumimoji="0" lang="en-US" altLang="ko-KR" sz="900">
                <a:latin typeface="나눔바른고딕"/>
                <a:ea typeface="나눔바른고딕"/>
              </a:rPr>
              <a:t> </a:t>
            </a:r>
            <a:r>
              <a:rPr kumimoji="0" lang="ko-KR" altLang="en-US" sz="900">
                <a:latin typeface="나눔바른고딕"/>
                <a:ea typeface="나눔바른고딕"/>
              </a:rPr>
              <a:t>유효 </a:t>
            </a:r>
            <a:r>
              <a:rPr kumimoji="0" lang="en-US" altLang="ko-KR" sz="900">
                <a:latin typeface="나눔바른고딕"/>
                <a:ea typeface="나눔바른고딕"/>
              </a:rPr>
              <a:t>/</a:t>
            </a:r>
            <a:r>
              <a:rPr lang="en-US" altLang="ko-KR" sz="9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: </a:t>
            </a:r>
            <a:r>
              <a:rPr lang="ko-KR" altLang="en-US" sz="9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개선 시급 문항</a:t>
            </a:r>
            <a:r>
              <a:rPr lang="en-US" altLang="ko-KR" sz="900" baseline="300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endParaRPr lang="ko-KR" altLang="en-US" sz="900" baseline="30000"/>
          </a:p>
        </p:txBody>
      </p:sp>
      <p:sp>
        <p:nvSpPr>
          <p:cNvPr id="5" name="화살표: 오각형 4">
            <a:extLst>
              <a:ext uri="{FF2B5EF4-FFF2-40B4-BE49-F238E27FC236}">
                <a16:creationId xmlns:a16="http://schemas.microsoft.com/office/drawing/2014/main" id="{297EA8B0-08BF-CA35-36B3-1B1536F99AE1}"/>
              </a:ext>
            </a:extLst>
          </p:cNvPr>
          <p:cNvSpPr/>
          <p:nvPr/>
        </p:nvSpPr>
        <p:spPr>
          <a:xfrm rot="16200000">
            <a:off x="4621703" y="-2954611"/>
            <a:ext cx="669714" cy="9276573"/>
          </a:xfrm>
          <a:prstGeom prst="homePlate">
            <a:avLst>
              <a:gd name="adj" fmla="val 100000"/>
            </a:avLst>
          </a:prstGeom>
          <a:gradFill>
            <a:gsLst>
              <a:gs pos="0">
                <a:schemeClr val="accent2"/>
              </a:gs>
              <a:gs pos="61000">
                <a:schemeClr val="accent6"/>
              </a:gs>
              <a:gs pos="100000">
                <a:schemeClr val="bg1"/>
              </a:gs>
            </a:gsLst>
            <a:lin ang="10800000" scaled="0"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>
              <a:lnSpc>
                <a:spcPct val="120000"/>
              </a:lnSpc>
              <a:spcBef>
                <a:spcPts val="300"/>
              </a:spcBef>
            </a:pPr>
            <a:endParaRPr lang="ko-KR" altLang="en-US" sz="1000" b="1" kern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26BAAC4-B08F-D189-9DAC-EF0ECD830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  <a:ea typeface="+mn-ea"/>
              </a:rPr>
              <a:t>진단 문항별 결과 </a:t>
            </a:r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45C21DA-2961-0D15-B566-B49321A4B743}"/>
              </a:ext>
            </a:extLst>
          </p:cNvPr>
          <p:cNvSpPr/>
          <p:nvPr/>
        </p:nvSpPr>
        <p:spPr>
          <a:xfrm>
            <a:off x="383843" y="5882368"/>
            <a:ext cx="2825856" cy="356542"/>
          </a:xfrm>
          <a:prstGeom prst="roundRect">
            <a:avLst/>
          </a:prstGeom>
          <a:solidFill>
            <a:schemeClr val="accent6">
              <a:lumMod val="90000"/>
              <a:alpha val="55000"/>
            </a:schemeClr>
          </a:solidFill>
          <a:ln w="63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9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#</a:t>
            </a:r>
            <a:r>
              <a:rPr lang="ko-KR" altLang="en-US" sz="9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경영전략 공감</a:t>
            </a: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5BC16EEC-E4BA-8C4C-FB28-818991526A10}"/>
              </a:ext>
            </a:extLst>
          </p:cNvPr>
          <p:cNvGrpSpPr/>
          <p:nvPr/>
        </p:nvGrpSpPr>
        <p:grpSpPr>
          <a:xfrm>
            <a:off x="374802" y="4305171"/>
            <a:ext cx="2837538" cy="272028"/>
            <a:chOff x="380999" y="2018529"/>
            <a:chExt cx="2196000" cy="27202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6F25EAF-A258-1B7E-CE6F-9CCAF06D375D}"/>
                </a:ext>
              </a:extLst>
            </p:cNvPr>
            <p:cNvSpPr txBox="1"/>
            <p:nvPr/>
          </p:nvSpPr>
          <p:spPr>
            <a:xfrm>
              <a:off x="390041" y="2018529"/>
              <a:ext cx="1739287" cy="261610"/>
            </a:xfrm>
            <a:prstGeom prst="rect">
              <a:avLst/>
            </a:prstGeom>
          </p:spPr>
          <p:txBody>
            <a:bodyPr wrap="square" lIns="36000" rIns="36000" rtlCol="0">
              <a:spAutoFit/>
            </a:bodyPr>
            <a:lstStyle/>
            <a:p>
              <a:pPr latinLnBrk="0">
                <a:lnSpc>
                  <a:spcPct val="100000"/>
                </a:lnSpc>
              </a:pPr>
              <a:r>
                <a:rPr lang="ko-KR" altLang="en-US" sz="1100" b="1" kern="0">
                  <a:latin typeface="+mn-ea"/>
                  <a:ea typeface="+mn-ea"/>
                </a:rPr>
                <a:t>경영전략 </a:t>
              </a:r>
              <a:r>
                <a:rPr lang="en-US" altLang="ko-KR" sz="1100" b="1" kern="0">
                  <a:latin typeface="+mn-ea"/>
                  <a:ea typeface="+mn-ea"/>
                </a:rPr>
                <a:t>61.3</a:t>
              </a:r>
              <a:endParaRPr lang="ko-KR" altLang="en-US" sz="1100" b="1" kern="0">
                <a:latin typeface="+mn-ea"/>
                <a:ea typeface="+mn-ea"/>
              </a:endParaRPr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3C665AB1-F1FA-CFE7-A4E3-218B4996E5EB}"/>
                </a:ext>
              </a:extLst>
            </p:cNvPr>
            <p:cNvCxnSpPr>
              <a:cxnSpLocks/>
            </p:cNvCxnSpPr>
            <p:nvPr/>
          </p:nvCxnSpPr>
          <p:spPr>
            <a:xfrm>
              <a:off x="380999" y="2290557"/>
              <a:ext cx="2196000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A999013-E300-DBA5-175D-6A299D4E8DD1}"/>
                </a:ext>
              </a:extLst>
            </p:cNvPr>
            <p:cNvSpPr txBox="1"/>
            <p:nvPr/>
          </p:nvSpPr>
          <p:spPr>
            <a:xfrm>
              <a:off x="1870478" y="2026223"/>
              <a:ext cx="694049" cy="261610"/>
            </a:xfrm>
            <a:prstGeom prst="rect">
              <a:avLst/>
            </a:prstGeom>
          </p:spPr>
          <p:txBody>
            <a:bodyPr wrap="square" lIns="36000" rIns="36000" rtlCol="0">
              <a:spAutoFit/>
            </a:bodyPr>
            <a:lstStyle/>
            <a:p>
              <a:pPr algn="r" latinLnBrk="0">
                <a:lnSpc>
                  <a:spcPct val="100000"/>
                </a:lnSpc>
              </a:pPr>
              <a:r>
                <a:rPr lang="en-US" altLang="ko-KR" sz="1100" kern="0">
                  <a:solidFill>
                    <a:schemeClr val="accent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+6.6</a:t>
              </a:r>
              <a:endParaRPr lang="ko-KR" altLang="en-US" sz="1100" kern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graphicFrame>
        <p:nvGraphicFramePr>
          <p:cNvPr id="25" name="표 3">
            <a:extLst>
              <a:ext uri="{FF2B5EF4-FFF2-40B4-BE49-F238E27FC236}">
                <a16:creationId xmlns:a16="http://schemas.microsoft.com/office/drawing/2014/main" id="{8A77CC5B-6164-545F-FC11-C044D10F23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930509"/>
              </p:ext>
            </p:extLst>
          </p:nvPr>
        </p:nvGraphicFramePr>
        <p:xfrm>
          <a:off x="384425" y="4710304"/>
          <a:ext cx="2837541" cy="110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796">
                  <a:extLst>
                    <a:ext uri="{9D8B030D-6E8A-4147-A177-3AD203B41FA5}">
                      <a16:colId xmlns:a16="http://schemas.microsoft.com/office/drawing/2014/main" val="206564522"/>
                    </a:ext>
                  </a:extLst>
                </a:gridCol>
                <a:gridCol w="354693">
                  <a:extLst>
                    <a:ext uri="{9D8B030D-6E8A-4147-A177-3AD203B41FA5}">
                      <a16:colId xmlns:a16="http://schemas.microsoft.com/office/drawing/2014/main" val="1257620241"/>
                    </a:ext>
                  </a:extLst>
                </a:gridCol>
                <a:gridCol w="433513">
                  <a:extLst>
                    <a:ext uri="{9D8B030D-6E8A-4147-A177-3AD203B41FA5}">
                      <a16:colId xmlns:a16="http://schemas.microsoft.com/office/drawing/2014/main" val="1439850882"/>
                    </a:ext>
                  </a:extLst>
                </a:gridCol>
                <a:gridCol w="433513">
                  <a:extLst>
                    <a:ext uri="{9D8B030D-6E8A-4147-A177-3AD203B41FA5}">
                      <a16:colId xmlns:a16="http://schemas.microsoft.com/office/drawing/2014/main" val="4022165338"/>
                    </a:ext>
                  </a:extLst>
                </a:gridCol>
                <a:gridCol w="433513">
                  <a:extLst>
                    <a:ext uri="{9D8B030D-6E8A-4147-A177-3AD203B41FA5}">
                      <a16:colId xmlns:a16="http://schemas.microsoft.com/office/drawing/2014/main" val="1046032402"/>
                    </a:ext>
                  </a:extLst>
                </a:gridCol>
                <a:gridCol w="433513">
                  <a:extLst>
                    <a:ext uri="{9D8B030D-6E8A-4147-A177-3AD203B41FA5}">
                      <a16:colId xmlns:a16="http://schemas.microsoft.com/office/drawing/2014/main" val="4103345400"/>
                    </a:ext>
                  </a:extLst>
                </a:gridCol>
              </a:tblGrid>
              <a:tr h="2332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문항 키워드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긍정률</a:t>
                      </a:r>
                      <a:r>
                        <a:rPr lang="en-US" altLang="ko-KR" sz="800" b="0" baseline="30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전년</a:t>
                      </a:r>
                      <a:endParaRPr lang="en-US" altLang="ko-KR" sz="8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대비</a:t>
                      </a:r>
                      <a:r>
                        <a:rPr lang="en-US" altLang="ko-KR" sz="800" b="0" baseline="30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baseline="30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비교군</a:t>
                      </a:r>
                      <a:br>
                        <a:rPr lang="en-US" altLang="ko-KR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대비</a:t>
                      </a:r>
                      <a:r>
                        <a:rPr lang="en-US" altLang="ko-KR" sz="800" b="0" baseline="30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baseline="30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몰입도 </a:t>
                      </a:r>
                      <a:br>
                        <a:rPr lang="en-US" altLang="ko-KR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상관계수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회귀모형유효여부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80149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경영전략 이해</a:t>
                      </a:r>
                    </a:p>
                  </a:txBody>
                  <a:tcPr marL="8626" marR="8626" marT="8626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64.9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+6.6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+8.3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0.465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5378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경영전략 공유</a:t>
                      </a:r>
                    </a:p>
                  </a:txBody>
                  <a:tcPr marL="8626" marR="8626" marT="8626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55.7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+7.0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+13.2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0.521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73461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경영전략 공감</a:t>
                      </a:r>
                    </a:p>
                  </a:txBody>
                  <a:tcPr marL="8626" marR="8626" marT="8626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58.5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+6.4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-2.3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0.555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80368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경영전략 실천</a:t>
                      </a:r>
                    </a:p>
                  </a:txBody>
                  <a:tcPr marL="8626" marR="8626" marT="8626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66.0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+6.5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+5.3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0.498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66241"/>
                  </a:ext>
                </a:extLst>
              </a:tr>
            </a:tbl>
          </a:graphicData>
        </a:graphic>
      </p:graphicFrame>
      <p:sp>
        <p:nvSpPr>
          <p:cNvPr id="94" name="직사각형 93">
            <a:extLst>
              <a:ext uri="{FF2B5EF4-FFF2-40B4-BE49-F238E27FC236}">
                <a16:creationId xmlns:a16="http://schemas.microsoft.com/office/drawing/2014/main" id="{198977F9-CF37-004A-DA1B-340D4CC345C3}"/>
              </a:ext>
            </a:extLst>
          </p:cNvPr>
          <p:cNvSpPr/>
          <p:nvPr/>
        </p:nvSpPr>
        <p:spPr>
          <a:xfrm>
            <a:off x="380999" y="6253287"/>
            <a:ext cx="9144001" cy="27133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buAutoNum type="arabicPeriod"/>
            </a:pPr>
            <a:r>
              <a:rPr lang="ko-KR" altLang="en-US" sz="1000" kern="0">
                <a:solidFill>
                  <a:srgbClr val="000000"/>
                </a:solidFill>
                <a:latin typeface="나눔바른고딕"/>
                <a:ea typeface="나눔바른고딕"/>
              </a:rPr>
              <a:t>개선 시급 문항 </a:t>
            </a:r>
            <a:r>
              <a:rPr lang="en-US" altLang="ko-KR" sz="1000" kern="0">
                <a:solidFill>
                  <a:srgbClr val="000000"/>
                </a:solidFill>
                <a:latin typeface="나눔바른고딕"/>
                <a:ea typeface="나눔바른고딕"/>
              </a:rPr>
              <a:t>: </a:t>
            </a:r>
            <a:r>
              <a:rPr lang="ko-KR" altLang="en-US" sz="1000" kern="0">
                <a:solidFill>
                  <a:srgbClr val="000000"/>
                </a:solidFill>
                <a:latin typeface="나눔바른고딕"/>
                <a:ea typeface="나눔바른고딕"/>
              </a:rPr>
              <a:t>전년대비 </a:t>
            </a:r>
            <a:r>
              <a:rPr lang="en-US" altLang="ko-KR" sz="1000" kern="0">
                <a:solidFill>
                  <a:srgbClr val="000000"/>
                </a:solidFill>
                <a:latin typeface="나눔바른고딕"/>
                <a:ea typeface="나눔바른고딕"/>
              </a:rPr>
              <a:t>or </a:t>
            </a:r>
            <a:r>
              <a:rPr lang="ko-KR" altLang="en-US" sz="1000" kern="0">
                <a:solidFill>
                  <a:srgbClr val="000000"/>
                </a:solidFill>
                <a:latin typeface="나눔바른고딕"/>
                <a:ea typeface="나눔바른고딕"/>
              </a:rPr>
              <a:t>비교군 대비 낮고</a:t>
            </a:r>
            <a:r>
              <a:rPr lang="en-US" altLang="ko-KR" sz="1000" kern="0">
                <a:solidFill>
                  <a:srgbClr val="000000"/>
                </a:solidFill>
                <a:latin typeface="나눔바른고딕"/>
                <a:ea typeface="나눔바른고딕"/>
              </a:rPr>
              <a:t>, </a:t>
            </a:r>
            <a:r>
              <a:rPr lang="ko-KR" altLang="en-US" sz="1000" kern="0">
                <a:solidFill>
                  <a:srgbClr val="000000"/>
                </a:solidFill>
                <a:latin typeface="나눔바른고딕"/>
                <a:ea typeface="나눔바른고딕"/>
              </a:rPr>
              <a:t>몰입도 상관계수가 </a:t>
            </a:r>
            <a:r>
              <a:rPr lang="en-US" altLang="ko-KR" sz="1000" kern="0">
                <a:solidFill>
                  <a:srgbClr val="000000"/>
                </a:solidFill>
                <a:latin typeface="나눔바른고딕"/>
                <a:ea typeface="나눔바른고딕"/>
              </a:rPr>
              <a:t>±0.4 </a:t>
            </a:r>
            <a:r>
              <a:rPr lang="ko-KR" altLang="en-US" sz="1000" kern="0">
                <a:solidFill>
                  <a:srgbClr val="000000"/>
                </a:solidFill>
                <a:latin typeface="나눔바른고딕"/>
                <a:ea typeface="나눔바른고딕"/>
              </a:rPr>
              <a:t>이상이며</a:t>
            </a:r>
            <a:r>
              <a:rPr lang="en-US" altLang="ko-KR" sz="1000" kern="0">
                <a:solidFill>
                  <a:srgbClr val="000000"/>
                </a:solidFill>
                <a:latin typeface="나눔바른고딕"/>
                <a:ea typeface="나눔바른고딕"/>
              </a:rPr>
              <a:t>, </a:t>
            </a:r>
            <a:r>
              <a:rPr lang="ko-KR" altLang="en-US" sz="1000" kern="0">
                <a:solidFill>
                  <a:srgbClr val="000000"/>
                </a:solidFill>
                <a:latin typeface="나눔바른고딕"/>
                <a:ea typeface="나눔바른고딕"/>
              </a:rPr>
              <a:t>회귀 모형이 유효한 문항 </a:t>
            </a:r>
            <a:r>
              <a:rPr lang="en-US" altLang="ko-KR" sz="1000" kern="0">
                <a:solidFill>
                  <a:srgbClr val="000000"/>
                </a:solidFill>
                <a:latin typeface="나눔바른고딕"/>
                <a:ea typeface="나눔바른고딕"/>
              </a:rPr>
              <a:t>/ 2. </a:t>
            </a:r>
            <a:r>
              <a:rPr lang="ko-KR" altLang="en-US" sz="1000" kern="0">
                <a:solidFill>
                  <a:srgbClr val="000000"/>
                </a:solidFill>
                <a:latin typeface="나눔바른고딕"/>
                <a:ea typeface="나눔바른고딕"/>
              </a:rPr>
              <a:t>단위 </a:t>
            </a:r>
            <a:r>
              <a:rPr lang="en-US" altLang="ko-KR" sz="1000" kern="0">
                <a:solidFill>
                  <a:srgbClr val="000000"/>
                </a:solidFill>
                <a:latin typeface="나눔바른고딕"/>
                <a:ea typeface="나눔바른고딕"/>
              </a:rPr>
              <a:t>: %</a:t>
            </a:r>
            <a:endParaRPr lang="ko-KR" altLang="en-US" sz="1000"/>
          </a:p>
        </p:txBody>
      </p: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5A82631B-0047-7707-D581-2254D4ACDB77}"/>
              </a:ext>
            </a:extLst>
          </p:cNvPr>
          <p:cNvGrpSpPr/>
          <p:nvPr/>
        </p:nvGrpSpPr>
        <p:grpSpPr>
          <a:xfrm>
            <a:off x="374802" y="2015805"/>
            <a:ext cx="2837538" cy="272028"/>
            <a:chOff x="380999" y="2018529"/>
            <a:chExt cx="2196000" cy="272028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F970F16A-B824-7DB0-39A7-FD9DFA042B5C}"/>
                </a:ext>
              </a:extLst>
            </p:cNvPr>
            <p:cNvSpPr txBox="1"/>
            <p:nvPr/>
          </p:nvSpPr>
          <p:spPr>
            <a:xfrm>
              <a:off x="390041" y="2018529"/>
              <a:ext cx="1739287" cy="261610"/>
            </a:xfrm>
            <a:prstGeom prst="rect">
              <a:avLst/>
            </a:prstGeom>
          </p:spPr>
          <p:txBody>
            <a:bodyPr wrap="square" lIns="36000" rIns="36000" rtlCol="0">
              <a:spAutoFit/>
            </a:bodyPr>
            <a:lstStyle/>
            <a:p>
              <a:pPr latinLnBrk="0">
                <a:lnSpc>
                  <a:spcPct val="100000"/>
                </a:lnSpc>
              </a:pPr>
              <a:r>
                <a:rPr lang="ko-KR" altLang="en-US" sz="1100" b="1" kern="0">
                  <a:latin typeface="+mn-ea"/>
                  <a:ea typeface="+mn-ea"/>
                </a:rPr>
                <a:t>조직가치 </a:t>
              </a:r>
              <a:r>
                <a:rPr lang="en-US" altLang="ko-KR" sz="1100" b="1" kern="0">
                  <a:latin typeface="+mn-ea"/>
                  <a:ea typeface="+mn-ea"/>
                </a:rPr>
                <a:t>65.2</a:t>
              </a:r>
              <a:endParaRPr lang="ko-KR" altLang="en-US" sz="1100" b="1" kern="0">
                <a:latin typeface="+mn-ea"/>
                <a:ea typeface="+mn-ea"/>
              </a:endParaRPr>
            </a:p>
          </p:txBody>
        </p:sp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74E4115D-DA88-349A-116D-0E1E8309EB63}"/>
                </a:ext>
              </a:extLst>
            </p:cNvPr>
            <p:cNvCxnSpPr>
              <a:cxnSpLocks/>
            </p:cNvCxnSpPr>
            <p:nvPr/>
          </p:nvCxnSpPr>
          <p:spPr>
            <a:xfrm>
              <a:off x="380999" y="2290557"/>
              <a:ext cx="2196000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53F9CBA1-425D-D490-7347-3D29E678EA4C}"/>
                </a:ext>
              </a:extLst>
            </p:cNvPr>
            <p:cNvSpPr txBox="1"/>
            <p:nvPr/>
          </p:nvSpPr>
          <p:spPr>
            <a:xfrm>
              <a:off x="1870478" y="2026223"/>
              <a:ext cx="694049" cy="261610"/>
            </a:xfrm>
            <a:prstGeom prst="rect">
              <a:avLst/>
            </a:prstGeom>
          </p:spPr>
          <p:txBody>
            <a:bodyPr wrap="square" lIns="36000" rIns="36000" rtlCol="0">
              <a:spAutoFit/>
            </a:bodyPr>
            <a:lstStyle/>
            <a:p>
              <a:pPr algn="r" latinLnBrk="0">
                <a:lnSpc>
                  <a:spcPct val="100000"/>
                </a:lnSpc>
              </a:pPr>
              <a:r>
                <a:rPr lang="en-US" altLang="ko-KR" sz="1100">
                  <a:solidFill>
                    <a:schemeClr val="accent1"/>
                  </a:solidFill>
                  <a:latin typeface="+mn-ea"/>
                  <a:ea typeface="+mn-ea"/>
                </a:rPr>
                <a:t>+3.2</a:t>
              </a:r>
              <a:endParaRPr lang="ko-KR" altLang="en-US" sz="1100" kern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graphicFrame>
        <p:nvGraphicFramePr>
          <p:cNvPr id="113" name="표 3">
            <a:extLst>
              <a:ext uri="{FF2B5EF4-FFF2-40B4-BE49-F238E27FC236}">
                <a16:creationId xmlns:a16="http://schemas.microsoft.com/office/drawing/2014/main" id="{9388DCA8-09CB-2F13-61FF-C46F2B584F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895505"/>
              </p:ext>
            </p:extLst>
          </p:nvPr>
        </p:nvGraphicFramePr>
        <p:xfrm>
          <a:off x="384431" y="2400279"/>
          <a:ext cx="2837541" cy="110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796">
                  <a:extLst>
                    <a:ext uri="{9D8B030D-6E8A-4147-A177-3AD203B41FA5}">
                      <a16:colId xmlns:a16="http://schemas.microsoft.com/office/drawing/2014/main" val="206564522"/>
                    </a:ext>
                  </a:extLst>
                </a:gridCol>
                <a:gridCol w="354693">
                  <a:extLst>
                    <a:ext uri="{9D8B030D-6E8A-4147-A177-3AD203B41FA5}">
                      <a16:colId xmlns:a16="http://schemas.microsoft.com/office/drawing/2014/main" val="1257620241"/>
                    </a:ext>
                  </a:extLst>
                </a:gridCol>
                <a:gridCol w="433513">
                  <a:extLst>
                    <a:ext uri="{9D8B030D-6E8A-4147-A177-3AD203B41FA5}">
                      <a16:colId xmlns:a16="http://schemas.microsoft.com/office/drawing/2014/main" val="1939879185"/>
                    </a:ext>
                  </a:extLst>
                </a:gridCol>
                <a:gridCol w="433513">
                  <a:extLst>
                    <a:ext uri="{9D8B030D-6E8A-4147-A177-3AD203B41FA5}">
                      <a16:colId xmlns:a16="http://schemas.microsoft.com/office/drawing/2014/main" val="249415785"/>
                    </a:ext>
                  </a:extLst>
                </a:gridCol>
                <a:gridCol w="433513">
                  <a:extLst>
                    <a:ext uri="{9D8B030D-6E8A-4147-A177-3AD203B41FA5}">
                      <a16:colId xmlns:a16="http://schemas.microsoft.com/office/drawing/2014/main" val="1046032402"/>
                    </a:ext>
                  </a:extLst>
                </a:gridCol>
                <a:gridCol w="433513">
                  <a:extLst>
                    <a:ext uri="{9D8B030D-6E8A-4147-A177-3AD203B41FA5}">
                      <a16:colId xmlns:a16="http://schemas.microsoft.com/office/drawing/2014/main" val="3217513704"/>
                    </a:ext>
                  </a:extLst>
                </a:gridCol>
              </a:tblGrid>
              <a:tr h="2332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문항 키워드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긍정률</a:t>
                      </a:r>
                      <a:r>
                        <a:rPr lang="en-US" altLang="ko-KR" sz="800" b="0" baseline="3000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b="0" baseline="30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전년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대비</a:t>
                      </a:r>
                      <a:r>
                        <a:rPr lang="en-US" altLang="ko-KR" sz="800" b="0" baseline="3000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b="0" baseline="30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비교군</a:t>
                      </a:r>
                      <a:br>
                        <a:rPr lang="en-US" altLang="ko-KR" sz="800" b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대비</a:t>
                      </a:r>
                      <a:r>
                        <a:rPr lang="en-US" altLang="ko-KR" sz="800" b="0" baseline="3000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b="0" baseline="30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몰입도 </a:t>
                      </a:r>
                      <a:br>
                        <a:rPr lang="en-US" altLang="ko-KR" sz="800" b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상관계수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회귀모형유효여부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80149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70.5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4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-3.4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0.377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5378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이해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64.1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+4.9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+6.7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0.418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68400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공감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63.7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+5.3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-16.5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0.498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73461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실천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62.6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+6.0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+18.6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0.454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66241"/>
                  </a:ext>
                </a:extLst>
              </a:tr>
            </a:tbl>
          </a:graphicData>
        </a:graphic>
      </p:graphicFrame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14CB96D9-5C06-20C1-DD1A-635CBE4B306C}"/>
              </a:ext>
            </a:extLst>
          </p:cNvPr>
          <p:cNvGrpSpPr/>
          <p:nvPr/>
        </p:nvGrpSpPr>
        <p:grpSpPr>
          <a:xfrm>
            <a:off x="3502814" y="2018529"/>
            <a:ext cx="2846366" cy="272028"/>
            <a:chOff x="380999" y="2018529"/>
            <a:chExt cx="2196000" cy="272028"/>
          </a:xfrm>
        </p:grpSpPr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BCD2754F-E4EF-2AD0-2D48-9F6A98F6D751}"/>
                </a:ext>
              </a:extLst>
            </p:cNvPr>
            <p:cNvSpPr txBox="1"/>
            <p:nvPr/>
          </p:nvSpPr>
          <p:spPr>
            <a:xfrm>
              <a:off x="390041" y="2018529"/>
              <a:ext cx="1739287" cy="261610"/>
            </a:xfrm>
            <a:prstGeom prst="rect">
              <a:avLst/>
            </a:prstGeom>
          </p:spPr>
          <p:txBody>
            <a:bodyPr wrap="square" lIns="36000" rIns="36000" rtlCol="0">
              <a:spAutoFit/>
            </a:bodyPr>
            <a:lstStyle/>
            <a:p>
              <a:pPr latinLnBrk="0">
                <a:lnSpc>
                  <a:spcPct val="100000"/>
                </a:lnSpc>
              </a:pPr>
              <a:r>
                <a:rPr lang="ko-KR" altLang="en-US" sz="1100" b="1" kern="0">
                  <a:latin typeface="+mn-ea"/>
                  <a:ea typeface="+mn-ea"/>
                </a:rPr>
                <a:t>조직</a:t>
              </a:r>
              <a:r>
                <a:rPr lang="en-US" altLang="ko-KR" sz="1100" b="1" kern="0">
                  <a:latin typeface="+mn-ea"/>
                  <a:ea typeface="+mn-ea"/>
                </a:rPr>
                <a:t>/</a:t>
              </a:r>
              <a:r>
                <a:rPr lang="ko-KR" altLang="en-US" sz="1100" b="1" kern="0">
                  <a:latin typeface="+mn-ea"/>
                  <a:ea typeface="+mn-ea"/>
                </a:rPr>
                <a:t>프로세스 </a:t>
              </a:r>
              <a:r>
                <a:rPr lang="en-US" altLang="ko-KR" sz="1100" b="1" kern="0">
                  <a:latin typeface="+mn-ea"/>
                  <a:ea typeface="+mn-ea"/>
                </a:rPr>
                <a:t>44.7</a:t>
              </a:r>
              <a:endParaRPr lang="ko-KR" altLang="en-US" sz="1100" b="1" kern="0">
                <a:latin typeface="+mn-ea"/>
                <a:ea typeface="+mn-ea"/>
              </a:endParaRPr>
            </a:p>
          </p:txBody>
        </p:sp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F1C6DE90-0C58-7860-7972-1B0575BBC145}"/>
                </a:ext>
              </a:extLst>
            </p:cNvPr>
            <p:cNvCxnSpPr>
              <a:cxnSpLocks/>
            </p:cNvCxnSpPr>
            <p:nvPr/>
          </p:nvCxnSpPr>
          <p:spPr>
            <a:xfrm>
              <a:off x="380999" y="2290557"/>
              <a:ext cx="2196000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C4450158-DD7C-27E2-368F-6EC55118276F}"/>
                </a:ext>
              </a:extLst>
            </p:cNvPr>
            <p:cNvSpPr txBox="1"/>
            <p:nvPr/>
          </p:nvSpPr>
          <p:spPr>
            <a:xfrm>
              <a:off x="1870478" y="2026223"/>
              <a:ext cx="694049" cy="261610"/>
            </a:xfrm>
            <a:prstGeom prst="rect">
              <a:avLst/>
            </a:prstGeom>
          </p:spPr>
          <p:txBody>
            <a:bodyPr wrap="square" lIns="36000" rIns="36000" rtlCol="0">
              <a:spAutoFit/>
            </a:bodyPr>
            <a:lstStyle/>
            <a:p>
              <a:pPr algn="r" latinLnBrk="0">
                <a:lnSpc>
                  <a:spcPct val="100000"/>
                </a:lnSpc>
              </a:pPr>
              <a:r>
                <a:rPr lang="en-US" altLang="ko-KR" sz="1100" kern="0">
                  <a:solidFill>
                    <a:schemeClr val="accent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+3.3</a:t>
              </a:r>
              <a:endParaRPr lang="ko-KR" altLang="en-US" sz="1100" kern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47ABCA97-4E86-AA2B-7761-E3B6C93E56E7}"/>
              </a:ext>
            </a:extLst>
          </p:cNvPr>
          <p:cNvGrpSpPr/>
          <p:nvPr/>
        </p:nvGrpSpPr>
        <p:grpSpPr>
          <a:xfrm>
            <a:off x="6666728" y="2018529"/>
            <a:ext cx="2846366" cy="272028"/>
            <a:chOff x="380999" y="2018529"/>
            <a:chExt cx="2196000" cy="272028"/>
          </a:xfrm>
        </p:grpSpPr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75EF9B00-B5EA-1D00-6812-88D619D488BD}"/>
                </a:ext>
              </a:extLst>
            </p:cNvPr>
            <p:cNvSpPr txBox="1"/>
            <p:nvPr/>
          </p:nvSpPr>
          <p:spPr>
            <a:xfrm>
              <a:off x="390041" y="2018529"/>
              <a:ext cx="1739287" cy="261610"/>
            </a:xfrm>
            <a:prstGeom prst="rect">
              <a:avLst/>
            </a:prstGeom>
          </p:spPr>
          <p:txBody>
            <a:bodyPr wrap="square" lIns="36000" rIns="36000" rtlCol="0">
              <a:spAutoFit/>
            </a:bodyPr>
            <a:lstStyle/>
            <a:p>
              <a:pPr latinLnBrk="0">
                <a:lnSpc>
                  <a:spcPct val="100000"/>
                </a:lnSpc>
              </a:pPr>
              <a:r>
                <a:rPr lang="ko-KR" altLang="en-US" sz="1100" b="1" kern="0">
                  <a:latin typeface="+mn-ea"/>
                  <a:ea typeface="+mn-ea"/>
                </a:rPr>
                <a:t>인사제도 </a:t>
              </a:r>
              <a:r>
                <a:rPr lang="en-US" altLang="ko-KR" sz="1100" b="1" kern="0">
                  <a:latin typeface="+mn-ea"/>
                  <a:ea typeface="+mn-ea"/>
                </a:rPr>
                <a:t>39.8</a:t>
              </a:r>
              <a:r>
                <a:rPr lang="ko-KR" altLang="en-US" sz="1100" b="1" kern="0">
                  <a:latin typeface="+mn-ea"/>
                  <a:ea typeface="+mn-ea"/>
                </a:rPr>
                <a:t> </a:t>
              </a:r>
            </a:p>
          </p:txBody>
        </p:sp>
        <p:cxnSp>
          <p:nvCxnSpPr>
            <p:cNvPr id="126" name="직선 연결선 125">
              <a:extLst>
                <a:ext uri="{FF2B5EF4-FFF2-40B4-BE49-F238E27FC236}">
                  <a16:creationId xmlns:a16="http://schemas.microsoft.com/office/drawing/2014/main" id="{7BD56C33-4AA7-E03D-3D26-41402C77AE50}"/>
                </a:ext>
              </a:extLst>
            </p:cNvPr>
            <p:cNvCxnSpPr>
              <a:cxnSpLocks/>
            </p:cNvCxnSpPr>
            <p:nvPr/>
          </p:nvCxnSpPr>
          <p:spPr>
            <a:xfrm>
              <a:off x="380999" y="2290557"/>
              <a:ext cx="2196000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3CF22B16-50E1-D05D-1AFE-6C539B1B5AF4}"/>
                </a:ext>
              </a:extLst>
            </p:cNvPr>
            <p:cNvSpPr txBox="1"/>
            <p:nvPr/>
          </p:nvSpPr>
          <p:spPr>
            <a:xfrm>
              <a:off x="1870478" y="2026223"/>
              <a:ext cx="694049" cy="261610"/>
            </a:xfrm>
            <a:prstGeom prst="rect">
              <a:avLst/>
            </a:prstGeom>
          </p:spPr>
          <p:txBody>
            <a:bodyPr wrap="square" lIns="36000" rIns="36000" rtlCol="0">
              <a:spAutoFit/>
            </a:bodyPr>
            <a:lstStyle/>
            <a:p>
              <a:pPr algn="r" latinLnBrk="0">
                <a:lnSpc>
                  <a:spcPct val="100000"/>
                </a:lnSpc>
              </a:pPr>
              <a:r>
                <a:rPr lang="en-US" altLang="ko-KR" sz="1100" kern="0">
                  <a:solidFill>
                    <a:schemeClr val="accent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+3.7</a:t>
              </a:r>
              <a:endParaRPr lang="ko-KR" altLang="en-US" sz="1100" kern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graphicFrame>
        <p:nvGraphicFramePr>
          <p:cNvPr id="139" name="표 3">
            <a:extLst>
              <a:ext uri="{FF2B5EF4-FFF2-40B4-BE49-F238E27FC236}">
                <a16:creationId xmlns:a16="http://schemas.microsoft.com/office/drawing/2014/main" id="{C7A61A1C-C234-5E1B-50C6-AD68DA5ABA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771988"/>
              </p:ext>
            </p:extLst>
          </p:nvPr>
        </p:nvGraphicFramePr>
        <p:xfrm>
          <a:off x="3509643" y="2403003"/>
          <a:ext cx="2837541" cy="3424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796">
                  <a:extLst>
                    <a:ext uri="{9D8B030D-6E8A-4147-A177-3AD203B41FA5}">
                      <a16:colId xmlns:a16="http://schemas.microsoft.com/office/drawing/2014/main" val="206564522"/>
                    </a:ext>
                  </a:extLst>
                </a:gridCol>
                <a:gridCol w="354693">
                  <a:extLst>
                    <a:ext uri="{9D8B030D-6E8A-4147-A177-3AD203B41FA5}">
                      <a16:colId xmlns:a16="http://schemas.microsoft.com/office/drawing/2014/main" val="1257620241"/>
                    </a:ext>
                  </a:extLst>
                </a:gridCol>
                <a:gridCol w="433513">
                  <a:extLst>
                    <a:ext uri="{9D8B030D-6E8A-4147-A177-3AD203B41FA5}">
                      <a16:colId xmlns:a16="http://schemas.microsoft.com/office/drawing/2014/main" val="2310307358"/>
                    </a:ext>
                  </a:extLst>
                </a:gridCol>
                <a:gridCol w="433513">
                  <a:extLst>
                    <a:ext uri="{9D8B030D-6E8A-4147-A177-3AD203B41FA5}">
                      <a16:colId xmlns:a16="http://schemas.microsoft.com/office/drawing/2014/main" val="4087593540"/>
                    </a:ext>
                  </a:extLst>
                </a:gridCol>
                <a:gridCol w="433513">
                  <a:extLst>
                    <a:ext uri="{9D8B030D-6E8A-4147-A177-3AD203B41FA5}">
                      <a16:colId xmlns:a16="http://schemas.microsoft.com/office/drawing/2014/main" val="1046032402"/>
                    </a:ext>
                  </a:extLst>
                </a:gridCol>
                <a:gridCol w="433513">
                  <a:extLst>
                    <a:ext uri="{9D8B030D-6E8A-4147-A177-3AD203B41FA5}">
                      <a16:colId xmlns:a16="http://schemas.microsoft.com/office/drawing/2014/main" val="996641690"/>
                    </a:ext>
                  </a:extLst>
                </a:gridCol>
              </a:tblGrid>
              <a:tr h="2696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문항 키워드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긍정률</a:t>
                      </a:r>
                      <a:r>
                        <a:rPr lang="en-US" altLang="ko-KR" sz="800" b="0" baseline="30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전년</a:t>
                      </a:r>
                      <a:endParaRPr lang="en-US" altLang="ko-KR" sz="8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대비</a:t>
                      </a:r>
                      <a:r>
                        <a:rPr lang="en-US" altLang="ko-KR" sz="800" b="0" baseline="30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baseline="30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비교군</a:t>
                      </a:r>
                      <a:br>
                        <a:rPr lang="en-US" altLang="ko-KR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대비</a:t>
                      </a:r>
                      <a:r>
                        <a:rPr lang="en-US" altLang="ko-KR" sz="800" b="0" baseline="30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baseline="30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몰입도 </a:t>
                      </a:r>
                      <a:br>
                        <a:rPr lang="en-US" altLang="ko-KR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상관계수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회귀모형유효여부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801494"/>
                  </a:ext>
                </a:extLst>
              </a:tr>
              <a:tr h="21035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조직구조 적절성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47.1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+4.2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+18.4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0.580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537801"/>
                  </a:ext>
                </a:extLst>
              </a:tr>
              <a:tr h="21035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수평적</a:t>
                      </a:r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R&amp;R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51.6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+4.1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+3.8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0.530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734618"/>
                  </a:ext>
                </a:extLst>
              </a:tr>
              <a:tr h="21035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수직적</a:t>
                      </a:r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R&amp;R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57.5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+4.2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+14.8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0.481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803685"/>
                  </a:ext>
                </a:extLst>
              </a:tr>
              <a:tr h="21035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업무배분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39.5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+4.4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+20.0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0.538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080732"/>
                  </a:ext>
                </a:extLst>
              </a:tr>
              <a:tr h="21035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인력규모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16.2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4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-1.2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-10.9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0.401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006074"/>
                  </a:ext>
                </a:extLst>
              </a:tr>
              <a:tr h="21035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프로세스 효율성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32.5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+1.3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-12.4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0.485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677539"/>
                  </a:ext>
                </a:extLst>
              </a:tr>
              <a:tr h="21035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프로세스 명확성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43.8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+3.8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+26.8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0.509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17843"/>
                  </a:ext>
                </a:extLst>
              </a:tr>
              <a:tr h="21035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수직적 의사소통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44.5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+3.5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-8.5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0.578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27912"/>
                  </a:ext>
                </a:extLst>
              </a:tr>
              <a:tr h="21035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수평적 의사소통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43.9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+4.5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-6.3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0.559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131508"/>
                  </a:ext>
                </a:extLst>
              </a:tr>
              <a:tr h="21035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조직내 의사소통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50.2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+5.4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-1.4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0.582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389020"/>
                  </a:ext>
                </a:extLst>
              </a:tr>
              <a:tr h="21035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의사결정 속도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40.7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+4.0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-10.6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0.587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384262"/>
                  </a:ext>
                </a:extLst>
              </a:tr>
              <a:tr h="21035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의사결정 단계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46.6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+3.1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-5.6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0.480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151200"/>
                  </a:ext>
                </a:extLst>
              </a:tr>
              <a:tr h="21035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권한위임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51.0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+3.0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+12.3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0.538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7761955"/>
                  </a:ext>
                </a:extLst>
              </a:tr>
              <a:tr h="21035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자원제공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52.8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+3.6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+6.1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0.561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6487387"/>
                  </a:ext>
                </a:extLst>
              </a:tr>
              <a:tr h="21035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WLB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53.0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+2.1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+22.0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0.579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66241"/>
                  </a:ext>
                </a:extLst>
              </a:tr>
            </a:tbl>
          </a:graphicData>
        </a:graphic>
      </p:graphicFrame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4DB97496-5005-D994-A2D1-3D4908F614B3}"/>
              </a:ext>
            </a:extLst>
          </p:cNvPr>
          <p:cNvSpPr/>
          <p:nvPr/>
        </p:nvSpPr>
        <p:spPr>
          <a:xfrm>
            <a:off x="3502814" y="5880746"/>
            <a:ext cx="2837543" cy="356542"/>
          </a:xfrm>
          <a:prstGeom prst="roundRect">
            <a:avLst/>
          </a:prstGeom>
          <a:solidFill>
            <a:schemeClr val="accent6">
              <a:lumMod val="90000"/>
              <a:alpha val="55000"/>
            </a:schemeClr>
          </a:solidFill>
          <a:ln w="63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9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#</a:t>
            </a:r>
            <a:r>
              <a:rPr lang="ko-KR" altLang="en-US" sz="9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인력규모 </a:t>
            </a:r>
            <a:r>
              <a:rPr lang="en-US" altLang="ko-KR" sz="9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#</a:t>
            </a:r>
            <a:r>
              <a:rPr lang="ko-KR" altLang="en-US" sz="9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프로세스 효율성 </a:t>
            </a:r>
            <a:r>
              <a:rPr lang="en-US" altLang="ko-KR" sz="9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#</a:t>
            </a:r>
            <a:r>
              <a:rPr lang="ko-KR" altLang="en-US" sz="9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수직적 의사소통 </a:t>
            </a:r>
            <a:r>
              <a:rPr lang="en-US" altLang="ko-KR" sz="9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#</a:t>
            </a:r>
            <a:r>
              <a:rPr lang="ko-KR" altLang="en-US" sz="9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수평적 의사소통 </a:t>
            </a:r>
            <a:r>
              <a:rPr lang="en-US" altLang="ko-KR" sz="9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#</a:t>
            </a:r>
            <a:r>
              <a:rPr lang="ko-KR" altLang="en-US" sz="9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조직내 의사소통 </a:t>
            </a:r>
            <a:r>
              <a:rPr lang="en-US" altLang="ko-KR" sz="9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#</a:t>
            </a:r>
            <a:r>
              <a:rPr lang="ko-KR" altLang="en-US" sz="9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의사결정 속도 </a:t>
            </a:r>
            <a:r>
              <a:rPr lang="en-US" altLang="ko-KR" sz="9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#</a:t>
            </a:r>
            <a:r>
              <a:rPr lang="ko-KR" altLang="en-US" sz="9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의사결정 단계</a:t>
            </a:r>
          </a:p>
        </p:txBody>
      </p:sp>
      <p:graphicFrame>
        <p:nvGraphicFramePr>
          <p:cNvPr id="144" name="표 3">
            <a:extLst>
              <a:ext uri="{FF2B5EF4-FFF2-40B4-BE49-F238E27FC236}">
                <a16:creationId xmlns:a16="http://schemas.microsoft.com/office/drawing/2014/main" id="{36DE585D-A89A-D310-D7F0-3355001B7F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170526"/>
              </p:ext>
            </p:extLst>
          </p:nvPr>
        </p:nvGraphicFramePr>
        <p:xfrm>
          <a:off x="6675770" y="2403003"/>
          <a:ext cx="2837541" cy="3424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796">
                  <a:extLst>
                    <a:ext uri="{9D8B030D-6E8A-4147-A177-3AD203B41FA5}">
                      <a16:colId xmlns:a16="http://schemas.microsoft.com/office/drawing/2014/main" val="206564522"/>
                    </a:ext>
                  </a:extLst>
                </a:gridCol>
                <a:gridCol w="354693">
                  <a:extLst>
                    <a:ext uri="{9D8B030D-6E8A-4147-A177-3AD203B41FA5}">
                      <a16:colId xmlns:a16="http://schemas.microsoft.com/office/drawing/2014/main" val="1257620241"/>
                    </a:ext>
                  </a:extLst>
                </a:gridCol>
                <a:gridCol w="433513">
                  <a:extLst>
                    <a:ext uri="{9D8B030D-6E8A-4147-A177-3AD203B41FA5}">
                      <a16:colId xmlns:a16="http://schemas.microsoft.com/office/drawing/2014/main" val="2429630120"/>
                    </a:ext>
                  </a:extLst>
                </a:gridCol>
                <a:gridCol w="433513">
                  <a:extLst>
                    <a:ext uri="{9D8B030D-6E8A-4147-A177-3AD203B41FA5}">
                      <a16:colId xmlns:a16="http://schemas.microsoft.com/office/drawing/2014/main" val="871202795"/>
                    </a:ext>
                  </a:extLst>
                </a:gridCol>
                <a:gridCol w="433513">
                  <a:extLst>
                    <a:ext uri="{9D8B030D-6E8A-4147-A177-3AD203B41FA5}">
                      <a16:colId xmlns:a16="http://schemas.microsoft.com/office/drawing/2014/main" val="1046032402"/>
                    </a:ext>
                  </a:extLst>
                </a:gridCol>
                <a:gridCol w="433513">
                  <a:extLst>
                    <a:ext uri="{9D8B030D-6E8A-4147-A177-3AD203B41FA5}">
                      <a16:colId xmlns:a16="http://schemas.microsoft.com/office/drawing/2014/main" val="2458675018"/>
                    </a:ext>
                  </a:extLst>
                </a:gridCol>
              </a:tblGrid>
              <a:tr h="2764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업문항 키워드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긍정률</a:t>
                      </a:r>
                      <a:r>
                        <a:rPr lang="en-US" altLang="ko-KR" sz="800" b="0" baseline="30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전년</a:t>
                      </a:r>
                      <a:endParaRPr lang="en-US" altLang="ko-KR" sz="8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대비</a:t>
                      </a:r>
                      <a:r>
                        <a:rPr lang="en-US" altLang="ko-KR" sz="800" b="0" baseline="30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비교군</a:t>
                      </a:r>
                      <a:br>
                        <a:rPr lang="en-US" altLang="ko-KR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대비</a:t>
                      </a:r>
                      <a:r>
                        <a:rPr lang="en-US" altLang="ko-KR" sz="800" b="0" baseline="30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baseline="30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몰입도 </a:t>
                      </a:r>
                      <a:br>
                        <a:rPr lang="en-US" altLang="ko-KR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상관계수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회귀모형유효여부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801494"/>
                  </a:ext>
                </a:extLst>
              </a:tr>
              <a:tr h="22489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역할</a:t>
                      </a:r>
                      <a:r>
                        <a:rPr lang="en-US" altLang="ko-KR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직급적합성</a:t>
                      </a:r>
                    </a:p>
                  </a:txBody>
                  <a:tcPr marL="0" marR="0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50.8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+2.4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+19.0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0.550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537801"/>
                  </a:ext>
                </a:extLst>
              </a:tr>
              <a:tr h="22489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승진 공정성</a:t>
                      </a:r>
                    </a:p>
                  </a:txBody>
                  <a:tcPr marL="0" marR="0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29.8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+3.0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+7.3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0.555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034300"/>
                  </a:ext>
                </a:extLst>
              </a:tr>
              <a:tr h="22489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평가제도 이해도</a:t>
                      </a:r>
                    </a:p>
                  </a:txBody>
                  <a:tcPr marL="0" marR="0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47.0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+5.4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+13.9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0.476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750726"/>
                  </a:ext>
                </a:extLst>
              </a:tr>
              <a:tr h="22489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 공정성</a:t>
                      </a:r>
                    </a:p>
                  </a:txBody>
                  <a:tcPr marL="0" marR="0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36.2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+3.7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+5.4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0.576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968701"/>
                  </a:ext>
                </a:extLst>
              </a:tr>
              <a:tr h="22489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피드백 제공</a:t>
                      </a:r>
                    </a:p>
                  </a:txBody>
                  <a:tcPr marL="0" marR="0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45.5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+3.8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+14.7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0.536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766636"/>
                  </a:ext>
                </a:extLst>
              </a:tr>
              <a:tr h="22489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평가제도 만족도</a:t>
                      </a:r>
                    </a:p>
                  </a:txBody>
                  <a:tcPr marL="0" marR="0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35.9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+3.8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+7.4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0.599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734618"/>
                  </a:ext>
                </a:extLst>
              </a:tr>
              <a:tr h="22489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보상제도 이해도</a:t>
                      </a:r>
                    </a:p>
                  </a:txBody>
                  <a:tcPr marL="0" marR="0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48.0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+3.3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+18.4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0.477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803685"/>
                  </a:ext>
                </a:extLst>
              </a:tr>
              <a:tr h="22489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보상 공정성</a:t>
                      </a:r>
                    </a:p>
                  </a:txBody>
                  <a:tcPr marL="0" marR="0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32.6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+3.0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+2.8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0.582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080732"/>
                  </a:ext>
                </a:extLst>
              </a:tr>
              <a:tr h="22489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보상제도 만족도</a:t>
                      </a:r>
                    </a:p>
                  </a:txBody>
                  <a:tcPr marL="0" marR="0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34.1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+2.9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+3.1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0.613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006074"/>
                  </a:ext>
                </a:extLst>
              </a:tr>
              <a:tr h="22489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복리후생</a:t>
                      </a:r>
                    </a:p>
                  </a:txBody>
                  <a:tcPr marL="0" marR="0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52.2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+3.7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+8.5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0.553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384262"/>
                  </a:ext>
                </a:extLst>
              </a:tr>
              <a:tr h="22489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인재유지</a:t>
                      </a:r>
                    </a:p>
                  </a:txBody>
                  <a:tcPr marL="0" marR="0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33.5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+4.9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+15.1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0.637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151200"/>
                  </a:ext>
                </a:extLst>
              </a:tr>
              <a:tr h="22489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적시채용</a:t>
                      </a:r>
                    </a:p>
                  </a:txBody>
                  <a:tcPr marL="0" marR="0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28.6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+2.8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+5.9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0.483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7761955"/>
                  </a:ext>
                </a:extLst>
              </a:tr>
              <a:tr h="22489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교육제도 만족도</a:t>
                      </a:r>
                    </a:p>
                  </a:txBody>
                  <a:tcPr marL="0" marR="0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42.0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+4.0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-3.0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0.547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6487387"/>
                  </a:ext>
                </a:extLst>
              </a:tr>
              <a:tr h="22489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성장 기회 제공</a:t>
                      </a:r>
                    </a:p>
                  </a:txBody>
                  <a:tcPr marL="0" marR="0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40.9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+4.6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+2.2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바른고딕" panose="020B0603020101020101" pitchFamily="50" charset="-127"/>
                        </a:rPr>
                        <a:t>0.577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66241"/>
                  </a:ext>
                </a:extLst>
              </a:tr>
            </a:tbl>
          </a:graphicData>
        </a:graphic>
      </p:graphicFrame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88F22512-4265-25A5-F809-1D85AF46E518}"/>
              </a:ext>
            </a:extLst>
          </p:cNvPr>
          <p:cNvSpPr/>
          <p:nvPr/>
        </p:nvSpPr>
        <p:spPr>
          <a:xfrm>
            <a:off x="6656916" y="5880746"/>
            <a:ext cx="2859043" cy="356542"/>
          </a:xfrm>
          <a:prstGeom prst="roundRect">
            <a:avLst/>
          </a:prstGeom>
          <a:solidFill>
            <a:schemeClr val="accent6">
              <a:lumMod val="90000"/>
              <a:alpha val="55000"/>
            </a:schemeClr>
          </a:solidFill>
          <a:ln w="63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9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#</a:t>
            </a:r>
            <a:r>
              <a:rPr lang="ko-KR" altLang="en-US" sz="9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교육제도 만족도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9FA85D8-2040-21E8-4203-4612F54530DF}"/>
              </a:ext>
            </a:extLst>
          </p:cNvPr>
          <p:cNvSpPr/>
          <p:nvPr/>
        </p:nvSpPr>
        <p:spPr>
          <a:xfrm>
            <a:off x="384425" y="3586720"/>
            <a:ext cx="2852753" cy="356542"/>
          </a:xfrm>
          <a:prstGeom prst="roundRect">
            <a:avLst/>
          </a:prstGeom>
          <a:solidFill>
            <a:schemeClr val="accent6">
              <a:lumMod val="90000"/>
              <a:alpha val="55000"/>
            </a:schemeClr>
          </a:solidFill>
          <a:ln w="63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9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#’P-Way’ </a:t>
            </a:r>
            <a:r>
              <a:rPr lang="ko-KR" altLang="en-US" sz="900" ker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공감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E23EC00-203B-D47A-97A7-B44BBE698AD9}"/>
              </a:ext>
            </a:extLst>
          </p:cNvPr>
          <p:cNvSpPr/>
          <p:nvPr/>
        </p:nvSpPr>
        <p:spPr>
          <a:xfrm>
            <a:off x="8420697" y="491300"/>
            <a:ext cx="216000" cy="144000"/>
          </a:xfrm>
          <a:prstGeom prst="roundRect">
            <a:avLst/>
          </a:prstGeom>
          <a:solidFill>
            <a:schemeClr val="accent6">
              <a:lumMod val="90000"/>
              <a:alpha val="55000"/>
            </a:schemeClr>
          </a:solidFill>
          <a:ln w="63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>
              <a:lnSpc>
                <a:spcPct val="120000"/>
              </a:lnSpc>
              <a:spcBef>
                <a:spcPts val="300"/>
              </a:spcBef>
            </a:pPr>
            <a:endParaRPr lang="ko-KR" altLang="en-US" sz="900" kern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2EE08F6-EFCE-3510-921D-C1A50A203788}"/>
              </a:ext>
            </a:extLst>
          </p:cNvPr>
          <p:cNvSpPr/>
          <p:nvPr/>
        </p:nvSpPr>
        <p:spPr>
          <a:xfrm>
            <a:off x="6004909" y="491300"/>
            <a:ext cx="216000" cy="144000"/>
          </a:xfrm>
          <a:prstGeom prst="roundRect">
            <a:avLst/>
          </a:prstGeom>
          <a:solidFill>
            <a:schemeClr val="accent5">
              <a:lumMod val="20000"/>
              <a:lumOff val="80000"/>
              <a:alpha val="55000"/>
            </a:schemeClr>
          </a:solidFill>
          <a:ln w="63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>
              <a:lnSpc>
                <a:spcPct val="120000"/>
              </a:lnSpc>
              <a:spcBef>
                <a:spcPts val="300"/>
              </a:spcBef>
            </a:pPr>
            <a:endParaRPr lang="ko-KR" altLang="en-US" sz="900" kern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6865D45-303A-F132-DAAC-DBAA38D89741}"/>
              </a:ext>
            </a:extLst>
          </p:cNvPr>
          <p:cNvSpPr/>
          <p:nvPr/>
        </p:nvSpPr>
        <p:spPr>
          <a:xfrm>
            <a:off x="7353992" y="491300"/>
            <a:ext cx="216000" cy="144000"/>
          </a:xfrm>
          <a:prstGeom prst="roundRect">
            <a:avLst/>
          </a:prstGeom>
          <a:solidFill>
            <a:schemeClr val="accent4">
              <a:lumMod val="20000"/>
              <a:lumOff val="80000"/>
              <a:alpha val="55000"/>
            </a:schemeClr>
          </a:solidFill>
          <a:ln w="63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>
              <a:lnSpc>
                <a:spcPct val="120000"/>
              </a:lnSpc>
              <a:spcBef>
                <a:spcPts val="300"/>
              </a:spcBef>
            </a:pPr>
            <a:endParaRPr lang="ko-KR" altLang="en-US" sz="900" kern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모서리가 둥근 직사각형 12">
            <a:extLst>
              <a:ext uri="{FF2B5EF4-FFF2-40B4-BE49-F238E27FC236}">
                <a16:creationId xmlns:a16="http://schemas.microsoft.com/office/drawing/2014/main" id="{30236901-AEB2-5E4C-5FC8-1FF7F3892589}"/>
              </a:ext>
            </a:extLst>
          </p:cNvPr>
          <p:cNvSpPr/>
          <p:nvPr/>
        </p:nvSpPr>
        <p:spPr>
          <a:xfrm>
            <a:off x="3615293" y="1348819"/>
            <a:ext cx="2675413" cy="38850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00000"/>
              </a:lnSpc>
            </a:pPr>
            <a:r>
              <a:rPr lang="ko-KR" altLang="en-US" sz="1200" b="1" kern="0">
                <a:solidFill>
                  <a:schemeClr val="tx1"/>
                </a:solidFill>
                <a:latin typeface="+mn-ea"/>
                <a:ea typeface="+mn-ea"/>
              </a:rPr>
              <a:t>몰입도 평균 </a:t>
            </a:r>
            <a:r>
              <a:rPr lang="en-US" altLang="ko-KR" sz="1200" b="1" kern="0">
                <a:solidFill>
                  <a:schemeClr val="tx1"/>
                </a:solidFill>
                <a:latin typeface="+mn-ea"/>
              </a:rPr>
              <a:t>64.3</a:t>
            </a:r>
            <a:r>
              <a:rPr lang="en-US" altLang="ko-KR" sz="1200" b="1" kern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en-US" altLang="ko-KR" sz="1200" b="1" kern="0">
                <a:solidFill>
                  <a:schemeClr val="accent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+3.6</a:t>
            </a:r>
            <a:endParaRPr lang="ko-KR" altLang="en-US" sz="1200" kern="0">
              <a:solidFill>
                <a:schemeClr val="accent1"/>
              </a:solidFill>
              <a:latin typeface="+mn-ea"/>
              <a:ea typeface="+mn-ea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050E2A6-53DE-13CA-87D9-FB4BC4300900}"/>
              </a:ext>
            </a:extLst>
          </p:cNvPr>
          <p:cNvSpPr/>
          <p:nvPr/>
        </p:nvSpPr>
        <p:spPr>
          <a:xfrm>
            <a:off x="561698" y="854977"/>
            <a:ext cx="1620000" cy="288000"/>
          </a:xfrm>
          <a:prstGeom prst="roundRect">
            <a:avLst/>
          </a:prstGeom>
          <a:pattFill prst="dkUpDiag">
            <a:fgClr>
              <a:schemeClr val="accent6"/>
            </a:fgClr>
            <a:bgClr>
              <a:schemeClr val="bg1"/>
            </a:bgClr>
          </a:patt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>
              <a:lnSpc>
                <a:spcPts val="1600"/>
              </a:lnSpc>
              <a:spcBef>
                <a:spcPts val="600"/>
              </a:spcBef>
            </a:pPr>
            <a:r>
              <a:rPr lang="en-US" altLang="ko-KR" sz="1000" b="1">
                <a:solidFill>
                  <a:schemeClr val="tx1"/>
                </a:solidFill>
                <a:latin typeface="+mn-ea"/>
              </a:rPr>
              <a:t>Pride</a:t>
            </a:r>
            <a:r>
              <a:rPr lang="ko-KR" altLang="en-US" sz="1000" b="1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i="0" u="none" strike="noStrike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66.7    </a:t>
            </a:r>
            <a:r>
              <a:rPr lang="en-US" altLang="ko-KR" sz="1000" b="1">
                <a:solidFill>
                  <a:schemeClr val="accent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+2.4</a:t>
            </a:r>
            <a:endParaRPr lang="ko-KR" altLang="en-US" sz="100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A901276-EAFC-3C59-C6BA-F61D5635E207}"/>
              </a:ext>
            </a:extLst>
          </p:cNvPr>
          <p:cNvSpPr/>
          <p:nvPr/>
        </p:nvSpPr>
        <p:spPr>
          <a:xfrm>
            <a:off x="2352350" y="854977"/>
            <a:ext cx="1620000" cy="288000"/>
          </a:xfrm>
          <a:prstGeom prst="roundRect">
            <a:avLst/>
          </a:prstGeom>
          <a:pattFill prst="dkUpDiag">
            <a:fgClr>
              <a:schemeClr val="accent6"/>
            </a:fgClr>
            <a:bgClr>
              <a:schemeClr val="bg1"/>
            </a:bgClr>
          </a:patt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>
              <a:lnSpc>
                <a:spcPts val="1600"/>
              </a:lnSpc>
              <a:spcBef>
                <a:spcPts val="600"/>
              </a:spcBef>
            </a:pPr>
            <a:r>
              <a:rPr lang="ko-KR" altLang="en-US" sz="1000" b="1">
                <a:solidFill>
                  <a:schemeClr val="tx1"/>
                </a:solidFill>
                <a:latin typeface="+mn-ea"/>
              </a:rPr>
              <a:t>만족도 </a:t>
            </a:r>
            <a:r>
              <a:rPr lang="en-US" altLang="ko-KR" sz="1000" b="1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66.5 </a:t>
            </a:r>
            <a:r>
              <a:rPr lang="en-US" altLang="ko-KR" sz="1000" b="1" i="0" u="none" strike="noStrike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1000" b="1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i="0" u="none" strike="noStrike">
                <a:solidFill>
                  <a:schemeClr val="accent1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  <a:sym typeface="Wingdings 3" panose="05040102010807070707" pitchFamily="18" charset="2"/>
              </a:rPr>
              <a:t>+</a:t>
            </a:r>
            <a:r>
              <a:rPr lang="en-US" altLang="ko-KR" sz="1000" b="1">
                <a:solidFill>
                  <a:schemeClr val="accent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sym typeface="Wingdings 3" panose="05040102010807070707" pitchFamily="18" charset="2"/>
              </a:rPr>
              <a:t>2.3</a:t>
            </a:r>
            <a:endParaRPr lang="ko-KR" altLang="en-US" sz="1000" b="1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393BA786-1B09-A971-D27A-E0E796FADAB9}"/>
              </a:ext>
            </a:extLst>
          </p:cNvPr>
          <p:cNvSpPr/>
          <p:nvPr/>
        </p:nvSpPr>
        <p:spPr>
          <a:xfrm>
            <a:off x="5933654" y="854977"/>
            <a:ext cx="1620000" cy="288000"/>
          </a:xfrm>
          <a:prstGeom prst="roundRect">
            <a:avLst/>
          </a:prstGeom>
          <a:pattFill prst="dkUpDiag">
            <a:fgClr>
              <a:schemeClr val="accent6"/>
            </a:fgClr>
            <a:bgClr>
              <a:schemeClr val="bg1"/>
            </a:bgClr>
          </a:patt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>
              <a:lnSpc>
                <a:spcPts val="1600"/>
              </a:lnSpc>
              <a:spcBef>
                <a:spcPts val="600"/>
              </a:spcBef>
            </a:pPr>
            <a:r>
              <a:rPr lang="ko-KR" altLang="en-US" sz="1000" b="1">
                <a:solidFill>
                  <a:schemeClr val="tx1"/>
                </a:solidFill>
                <a:latin typeface="+mn-ea"/>
              </a:rPr>
              <a:t>재직의사 </a:t>
            </a:r>
            <a:r>
              <a:rPr lang="en-US" altLang="ko-KR" sz="1000" b="1">
                <a:solidFill>
                  <a:schemeClr val="tx1"/>
                </a:solidFill>
                <a:latin typeface="+mn-ea"/>
              </a:rPr>
              <a:t>73.3</a:t>
            </a:r>
            <a:r>
              <a:rPr lang="en-US" altLang="ko-KR" sz="100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000" b="1">
                <a:solidFill>
                  <a:schemeClr val="accent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+3.0</a:t>
            </a:r>
            <a:endParaRPr lang="ko-KR" altLang="en-US" sz="1000" b="1">
              <a:solidFill>
                <a:schemeClr val="accent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CD099961-0100-5451-EB00-4691C09C2A1C}"/>
              </a:ext>
            </a:extLst>
          </p:cNvPr>
          <p:cNvSpPr/>
          <p:nvPr/>
        </p:nvSpPr>
        <p:spPr>
          <a:xfrm>
            <a:off x="7724304" y="854977"/>
            <a:ext cx="1620000" cy="288000"/>
          </a:xfrm>
          <a:prstGeom prst="roundRect">
            <a:avLst/>
          </a:prstGeom>
          <a:pattFill prst="dkUpDiag">
            <a:fgClr>
              <a:schemeClr val="accent6"/>
            </a:fgClr>
            <a:bgClr>
              <a:schemeClr val="bg1"/>
            </a:bgClr>
          </a:patt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>
              <a:lnSpc>
                <a:spcPts val="1600"/>
              </a:lnSpc>
              <a:spcBef>
                <a:spcPts val="600"/>
              </a:spcBef>
            </a:pPr>
            <a:r>
              <a:rPr lang="ko-KR" altLang="en-US" sz="1000" b="1" err="1">
                <a:solidFill>
                  <a:schemeClr val="tx1"/>
                </a:solidFill>
                <a:latin typeface="+mn-ea"/>
              </a:rPr>
              <a:t>성장감</a:t>
            </a:r>
            <a:r>
              <a:rPr lang="ko-KR" altLang="en-US" sz="1000" b="1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>
                <a:solidFill>
                  <a:schemeClr val="tx1"/>
                </a:solidFill>
                <a:latin typeface="+mn-ea"/>
              </a:rPr>
              <a:t>56.9    </a:t>
            </a:r>
            <a:r>
              <a:rPr lang="en-US" altLang="ko-KR" sz="1000" b="1">
                <a:solidFill>
                  <a:schemeClr val="accent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+4.7</a:t>
            </a:r>
            <a:endParaRPr lang="ko-KR" altLang="en-US" sz="100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7F60C60B-F69F-7DAB-8FD7-79550F6C7D25}"/>
              </a:ext>
            </a:extLst>
          </p:cNvPr>
          <p:cNvSpPr/>
          <p:nvPr/>
        </p:nvSpPr>
        <p:spPr>
          <a:xfrm>
            <a:off x="4143002" y="854977"/>
            <a:ext cx="1620000" cy="288000"/>
          </a:xfrm>
          <a:prstGeom prst="roundRect">
            <a:avLst/>
          </a:prstGeom>
          <a:pattFill prst="dkUpDiag">
            <a:fgClr>
              <a:schemeClr val="accent6"/>
            </a:fgClr>
            <a:bgClr>
              <a:schemeClr val="bg1"/>
            </a:bgClr>
          </a:patt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>
              <a:lnSpc>
                <a:spcPts val="1600"/>
              </a:lnSpc>
              <a:spcBef>
                <a:spcPts val="600"/>
              </a:spcBef>
            </a:pPr>
            <a:r>
              <a:rPr lang="ko-KR" altLang="en-US" sz="1000" b="1">
                <a:solidFill>
                  <a:schemeClr val="tx1"/>
                </a:solidFill>
                <a:latin typeface="+mn-ea"/>
              </a:rPr>
              <a:t>추천의지 </a:t>
            </a:r>
            <a:r>
              <a:rPr lang="en-US" altLang="ko-KR" sz="1000" b="1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58.1</a:t>
            </a:r>
            <a:r>
              <a:rPr lang="en-US" altLang="ko-KR" sz="1000" b="1" i="0" u="none" strike="noStrike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000">
                <a:solidFill>
                  <a:schemeClr val="tx1"/>
                </a:solidFill>
                <a:latin typeface="+mn-ea"/>
              </a:rPr>
              <a:t>   </a:t>
            </a:r>
            <a:r>
              <a:rPr lang="en-US" altLang="ko-KR" sz="1000" b="1">
                <a:solidFill>
                  <a:schemeClr val="accent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+5.7</a:t>
            </a:r>
            <a:endParaRPr lang="ko-KR" altLang="en-US" sz="1000" b="1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34" name="왼쪽 중괄호 33">
            <a:extLst>
              <a:ext uri="{FF2B5EF4-FFF2-40B4-BE49-F238E27FC236}">
                <a16:creationId xmlns:a16="http://schemas.microsoft.com/office/drawing/2014/main" id="{2D89D01F-9BDB-79E6-0733-A97630A6162B}"/>
              </a:ext>
            </a:extLst>
          </p:cNvPr>
          <p:cNvSpPr/>
          <p:nvPr/>
        </p:nvSpPr>
        <p:spPr>
          <a:xfrm rot="16200000">
            <a:off x="4877977" y="-2424963"/>
            <a:ext cx="181846" cy="7287435"/>
          </a:xfrm>
          <a:prstGeom prst="leftBrac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956201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Insightgroup">
      <a:dk1>
        <a:srgbClr val="000000"/>
      </a:dk1>
      <a:lt1>
        <a:srgbClr val="FFFFFF"/>
      </a:lt1>
      <a:dk2>
        <a:srgbClr val="314152"/>
      </a:dk2>
      <a:lt2>
        <a:srgbClr val="595959"/>
      </a:lt2>
      <a:accent1>
        <a:srgbClr val="066FA5"/>
      </a:accent1>
      <a:accent2>
        <a:srgbClr val="B4D3E4"/>
      </a:accent2>
      <a:accent3>
        <a:srgbClr val="224D17"/>
      </a:accent3>
      <a:accent4>
        <a:srgbClr val="C00000"/>
      </a:accent4>
      <a:accent5>
        <a:srgbClr val="FFC000"/>
      </a:accent5>
      <a:accent6>
        <a:srgbClr val="E1EDF4"/>
      </a:accent6>
      <a:hlink>
        <a:srgbClr val="FFFFFF"/>
      </a:hlink>
      <a:folHlink>
        <a:srgbClr val="FFFFFF"/>
      </a:folHlink>
    </a:clrScheme>
    <a:fontScheme name="나눔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bg1">
              <a:lumMod val="75000"/>
            </a:schemeClr>
          </a:solidFill>
        </a:ln>
      </a:spPr>
      <a:bodyPr lIns="36000" tIns="36000" rIns="36000" bIns="36000" rtlCol="0" anchor="ctr"/>
      <a:lstStyle>
        <a:defPPr algn="ctr" latinLnBrk="0">
          <a:lnSpc>
            <a:spcPct val="100000"/>
          </a:lnSpc>
          <a:spcBef>
            <a:spcPts val="300"/>
          </a:spcBef>
          <a:defRPr b="1" kern="0" dirty="0">
            <a:solidFill>
              <a:schemeClr val="tx1"/>
            </a:solidFill>
            <a:latin typeface="나눔바른고딕" panose="020B0603020101020101" pitchFamily="50" charset="-127"/>
            <a:ea typeface="나눔바른고딕" panose="020B0603020101020101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spAutoFit/>
      </a:bodyPr>
      <a:lstStyle>
        <a:defPPr marL="90488" indent="-90488" algn="l" latinLnBrk="0">
          <a:lnSpc>
            <a:spcPct val="100000"/>
          </a:lnSpc>
          <a:spcBef>
            <a:spcPts val="600"/>
          </a:spcBef>
          <a:buFont typeface="Arial" panose="020B0604020202020204" pitchFamily="34" charset="0"/>
          <a:buChar char="•"/>
          <a:defRPr sz="1200" b="1" dirty="0" smtClean="0">
            <a:latin typeface="나눔바른고딕" panose="020B0603020101020101" pitchFamily="50" charset="-127"/>
            <a:ea typeface="나눔바른고딕" panose="020B0603020101020101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f18da1b-5ef6-41ad-b6e1-c1cb714a310a">
      <Terms xmlns="http://schemas.microsoft.com/office/infopath/2007/PartnerControls"/>
    </lcf76f155ced4ddcb4097134ff3c332f>
    <TaxCatchAll xmlns="91cf7d7d-6245-47f6-ba4c-359ea937fe7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29BC335449D6C344A9D928F7CC692063" ma:contentTypeVersion="14" ma:contentTypeDescription="새 문서를 만듭니다." ma:contentTypeScope="" ma:versionID="fe2aa1354c60516e48f596fd0a936827">
  <xsd:schema xmlns:xsd="http://www.w3.org/2001/XMLSchema" xmlns:xs="http://www.w3.org/2001/XMLSchema" xmlns:p="http://schemas.microsoft.com/office/2006/metadata/properties" xmlns:ns2="df18da1b-5ef6-41ad-b6e1-c1cb714a310a" xmlns:ns3="91cf7d7d-6245-47f6-ba4c-359ea937fe78" targetNamespace="http://schemas.microsoft.com/office/2006/metadata/properties" ma:root="true" ma:fieldsID="91a051a4737e68f0b3694811f983cfc6" ns2:_="" ns3:_="">
    <xsd:import namespace="df18da1b-5ef6-41ad-b6e1-c1cb714a310a"/>
    <xsd:import namespace="91cf7d7d-6245-47f6-ba4c-359ea937fe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  <xsd:element ref="ns2:MediaServiceDateTake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18da1b-5ef6-41ad-b6e1-c1cb714a31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이미지 태그" ma:readOnly="false" ma:fieldId="{5cf76f15-5ced-4ddc-b409-7134ff3c332f}" ma:taxonomyMulti="true" ma:sspId="835e8e96-ae59-4a61-ae0c-011feb28073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cf7d7d-6245-47f6-ba4c-359ea937fe78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26ded074-b1f8-4aff-bc3f-2459a36b0604}" ma:internalName="TaxCatchAll" ma:showField="CatchAllData" ma:web="91cf7d7d-6245-47f6-ba4c-359ea937fe7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AA70A2-DB6A-4D3B-8F45-3C8E9E0C61A1}">
  <ds:schemaRefs>
    <ds:schemaRef ds:uri="91cf7d7d-6245-47f6-ba4c-359ea937fe78"/>
    <ds:schemaRef ds:uri="df18da1b-5ef6-41ad-b6e1-c1cb714a310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FD1E272-B5B7-48F7-B12A-3B4BBCF7AEE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6263958-7923-4E1D-8FAE-B4FE62B411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18da1b-5ef6-41ad-b6e1-c1cb714a310a"/>
    <ds:schemaRef ds:uri="91cf7d7d-6245-47f6-ba4c-359ea937fe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624</Words>
  <Application>Microsoft Office PowerPoint</Application>
  <PresentationFormat>A4 용지(210x297mm)</PresentationFormat>
  <Paragraphs>305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1" baseType="lpstr">
      <vt:lpstr>Wingdings</vt:lpstr>
      <vt:lpstr>Calibri</vt:lpstr>
      <vt:lpstr>나눔바른고딕</vt:lpstr>
      <vt:lpstr>Helvetica75</vt:lpstr>
      <vt:lpstr>HY견고딕</vt:lpstr>
      <vt:lpstr>Arial</vt:lpstr>
      <vt:lpstr>Helvetica</vt:lpstr>
      <vt:lpstr>맑은 고딕</vt:lpstr>
      <vt:lpstr>디자인 사용자 지정</vt:lpstr>
      <vt:lpstr>진단 Framework</vt:lpstr>
      <vt:lpstr>진단 문항별 결과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Insight Group</dc:creator>
  <cp:lastModifiedBy>오승훈대표</cp:lastModifiedBy>
  <cp:revision>3</cp:revision>
  <cp:lastPrinted>2025-11-13T01:49:24Z</cp:lastPrinted>
  <dcterms:created xsi:type="dcterms:W3CDTF">2003-02-12T07:47:39Z</dcterms:created>
  <dcterms:modified xsi:type="dcterms:W3CDTF">2026-05-04T06:07:02Z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0x01010029BC335449D6C344A9D928F7CC692063</vt:lpwstr>
  </property>
  <property fmtid="{D5CDD505-2E9C-101B-9397-08002B2CF9AE}" pid="3" name="MediaServiceImageTags">
    <vt:lpwstr/>
  </property>
</Properties>
</file>