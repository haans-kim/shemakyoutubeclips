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1" r:id="rId4"/>
  </p:sldMasterIdLst>
  <p:notesMasterIdLst>
    <p:notesMasterId r:id="rId9"/>
  </p:notesMasterIdLst>
  <p:handoutMasterIdLst>
    <p:handoutMasterId r:id="rId10"/>
  </p:handoutMasterIdLst>
  <p:sldIdLst>
    <p:sldId id="3906" r:id="rId5"/>
    <p:sldId id="3907" r:id="rId6"/>
    <p:sldId id="3899" r:id="rId7"/>
    <p:sldId id="3905" r:id="rId8"/>
  </p:sldIdLst>
  <p:sldSz cx="9906000" cy="6858000" type="A4"/>
  <p:notesSz cx="9866313" cy="6735763"/>
  <p:defaultTextStyle>
    <a:defPPr>
      <a:defRPr lang="ko-KR"/>
    </a:defPPr>
    <a:lvl1pPr algn="ctr" rtl="0" eaLnBrk="0" fontAlgn="base" hangingPunct="0">
      <a:spcBef>
        <a:spcPct val="30000"/>
      </a:spcBef>
      <a:spcAft>
        <a:spcPct val="0"/>
      </a:spcAft>
      <a:defRPr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ctr" rtl="0" eaLnBrk="0" fontAlgn="base" hangingPunct="0">
      <a:spcBef>
        <a:spcPct val="30000"/>
      </a:spcBef>
      <a:spcAft>
        <a:spcPct val="0"/>
      </a:spcAft>
      <a:defRPr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ctr" rtl="0" eaLnBrk="0" fontAlgn="base" hangingPunct="0">
      <a:spcBef>
        <a:spcPct val="30000"/>
      </a:spcBef>
      <a:spcAft>
        <a:spcPct val="0"/>
      </a:spcAft>
      <a:defRPr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ctr" rtl="0" eaLnBrk="0" fontAlgn="base" hangingPunct="0">
      <a:spcBef>
        <a:spcPct val="30000"/>
      </a:spcBef>
      <a:spcAft>
        <a:spcPct val="0"/>
      </a:spcAft>
      <a:defRPr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ctr" rtl="0" eaLnBrk="0" fontAlgn="base" hangingPunct="0">
      <a:spcBef>
        <a:spcPct val="30000"/>
      </a:spcBef>
      <a:spcAft>
        <a:spcPct val="0"/>
      </a:spcAft>
      <a:defRPr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C0C0C0"/>
    <a:srgbClr val="EAEAEA"/>
    <a:srgbClr val="FFCC00"/>
    <a:srgbClr val="FF6600"/>
    <a:srgbClr val="808080"/>
    <a:srgbClr val="FFE4BD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19" autoAdjust="0"/>
    <p:restoredTop sz="99662" autoAdjust="0"/>
  </p:normalViewPr>
  <p:slideViewPr>
    <p:cSldViewPr snapToGrid="0">
      <p:cViewPr varScale="1">
        <p:scale>
          <a:sx n="88" d="100"/>
          <a:sy n="88" d="100"/>
        </p:scale>
        <p:origin x="764" y="56"/>
      </p:cViewPr>
      <p:guideLst>
        <p:guide orient="horz" pos="4319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-1788" y="-84"/>
      </p:cViewPr>
      <p:guideLst>
        <p:guide orient="horz" pos="2122"/>
        <p:guide pos="3108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FE7864EB-D98B-FD98-9FED-236CF3DBA1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277398" cy="336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802" tIns="45401" rIns="90802" bIns="45401" numCol="1" anchor="t" anchorCtr="0" compatLnSpc="1">
            <a:prstTxWarp prst="textNoShape">
              <a:avLst/>
            </a:prstTxWarp>
          </a:bodyPr>
          <a:lstStyle>
            <a:lvl1pPr algn="l" defTabSz="908019" eaLnBrk="1" hangingPunct="1">
              <a:spcBef>
                <a:spcPct val="0"/>
              </a:spcBef>
              <a:buFont typeface="Wingdings" panose="05000000000000000000" pitchFamily="2" charset="2"/>
              <a:buNone/>
              <a:defRPr b="0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8AB3CEB7-729D-8252-80E6-759BD9A98D1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917" y="1"/>
            <a:ext cx="4277396" cy="336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802" tIns="45401" rIns="90802" bIns="45401" numCol="1" anchor="t" anchorCtr="0" compatLnSpc="1">
            <a:prstTxWarp prst="textNoShape">
              <a:avLst/>
            </a:prstTxWarp>
          </a:bodyPr>
          <a:lstStyle>
            <a:lvl1pPr algn="r" defTabSz="908019" eaLnBrk="1" hangingPunct="1">
              <a:spcBef>
                <a:spcPct val="0"/>
              </a:spcBef>
              <a:buFont typeface="Wingdings" panose="05000000000000000000" pitchFamily="2" charset="2"/>
              <a:buNone/>
              <a:defRPr b="0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8724" name="Rectangle 4">
            <a:extLst>
              <a:ext uri="{FF2B5EF4-FFF2-40B4-BE49-F238E27FC236}">
                <a16:creationId xmlns:a16="http://schemas.microsoft.com/office/drawing/2014/main" id="{C618E3B0-AF81-C390-8F09-2CB57E96528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399029"/>
            <a:ext cx="4277398" cy="336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802" tIns="45401" rIns="90802" bIns="45401" numCol="1" anchor="b" anchorCtr="0" compatLnSpc="1">
            <a:prstTxWarp prst="textNoShape">
              <a:avLst/>
            </a:prstTxWarp>
          </a:bodyPr>
          <a:lstStyle>
            <a:lvl1pPr algn="l" defTabSz="908019" eaLnBrk="1" hangingPunct="1">
              <a:spcBef>
                <a:spcPct val="0"/>
              </a:spcBef>
              <a:buFont typeface="Wingdings" panose="05000000000000000000" pitchFamily="2" charset="2"/>
              <a:buNone/>
              <a:defRPr b="0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8725" name="Rectangle 5">
            <a:extLst>
              <a:ext uri="{FF2B5EF4-FFF2-40B4-BE49-F238E27FC236}">
                <a16:creationId xmlns:a16="http://schemas.microsoft.com/office/drawing/2014/main" id="{7514B65E-1600-253D-FAD6-DB716586CF9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917" y="6399029"/>
            <a:ext cx="4277396" cy="336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802" tIns="45401" rIns="90802" bIns="45401" numCol="1" anchor="b" anchorCtr="0" compatLnSpc="1">
            <a:prstTxWarp prst="textNoShape">
              <a:avLst/>
            </a:prstTxWarp>
          </a:bodyPr>
          <a:lstStyle>
            <a:lvl1pPr algn="r" defTabSz="908019" eaLnBrk="1" hangingPunct="1">
              <a:spcBef>
                <a:spcPct val="0"/>
              </a:spcBef>
              <a:buFont typeface="Wingdings" panose="05000000000000000000" pitchFamily="2" charset="2"/>
              <a:buNone/>
              <a:defRPr b="0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fld id="{0D83C25D-6191-48A5-AA8A-A731BA2B31A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55A09F0-32CD-4B8B-F58F-6D38CDE72B5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277398" cy="336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802" tIns="45401" rIns="90802" bIns="45401" numCol="1" anchor="t" anchorCtr="0" compatLnSpc="1">
            <a:prstTxWarp prst="textNoShape">
              <a:avLst/>
            </a:prstTxWarp>
          </a:bodyPr>
          <a:lstStyle>
            <a:lvl1pPr algn="l" defTabSz="908019" eaLnBrk="1" hangingPunct="1">
              <a:spcBef>
                <a:spcPct val="0"/>
              </a:spcBef>
              <a:buFont typeface="Wingdings" panose="05000000000000000000" pitchFamily="2" charset="2"/>
              <a:buNone/>
              <a:defRPr b="0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18E529C-3F4C-B384-5986-4BD54A9EC07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588917" y="1"/>
            <a:ext cx="4277396" cy="336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802" tIns="45401" rIns="90802" bIns="45401" numCol="1" anchor="t" anchorCtr="0" compatLnSpc="1">
            <a:prstTxWarp prst="textNoShape">
              <a:avLst/>
            </a:prstTxWarp>
          </a:bodyPr>
          <a:lstStyle>
            <a:lvl1pPr algn="r" defTabSz="908019" eaLnBrk="1" hangingPunct="1">
              <a:spcBef>
                <a:spcPct val="0"/>
              </a:spcBef>
              <a:buFont typeface="Wingdings" panose="05000000000000000000" pitchFamily="2" charset="2"/>
              <a:buNone/>
              <a:defRPr b="0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C9625D75-975C-BDA0-5EB0-5D27B78A9AB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16263" y="504825"/>
            <a:ext cx="3651250" cy="2527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8210FF41-6B19-22A5-D16E-7D3790961BA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13824" y="3201666"/>
            <a:ext cx="7238670" cy="3030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802" tIns="45401" rIns="90802" bIns="45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80BF98D-FCB3-EDDE-8F5F-32218B4BFF4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399029"/>
            <a:ext cx="4277398" cy="336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802" tIns="45401" rIns="90802" bIns="45401" numCol="1" anchor="b" anchorCtr="0" compatLnSpc="1">
            <a:prstTxWarp prst="textNoShape">
              <a:avLst/>
            </a:prstTxWarp>
          </a:bodyPr>
          <a:lstStyle>
            <a:lvl1pPr algn="l" defTabSz="908019" eaLnBrk="1" hangingPunct="1">
              <a:spcBef>
                <a:spcPct val="0"/>
              </a:spcBef>
              <a:buFont typeface="Wingdings" panose="05000000000000000000" pitchFamily="2" charset="2"/>
              <a:buNone/>
              <a:defRPr b="0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E4EE103C-3773-E662-9C84-03EE9DDEBE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917" y="6399029"/>
            <a:ext cx="4277396" cy="336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802" tIns="45401" rIns="90802" bIns="45401" numCol="1" anchor="b" anchorCtr="0" compatLnSpc="1">
            <a:prstTxWarp prst="textNoShape">
              <a:avLst/>
            </a:prstTxWarp>
          </a:bodyPr>
          <a:lstStyle>
            <a:lvl1pPr algn="r" defTabSz="908019" eaLnBrk="1" hangingPunct="1">
              <a:spcBef>
                <a:spcPct val="0"/>
              </a:spcBef>
              <a:buFont typeface="Wingdings" panose="05000000000000000000" pitchFamily="2" charset="2"/>
              <a:buNone/>
              <a:defRPr b="0"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fld id="{C75E37B0-9C33-4C3E-9AFC-0A918AFD64E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3458" name="Picture 161" descr="logotype">
            <a:extLst>
              <a:ext uri="{FF2B5EF4-FFF2-40B4-BE49-F238E27FC236}">
                <a16:creationId xmlns:a16="http://schemas.microsoft.com/office/drawing/2014/main" id="{DA582BE6-CBEB-D9E4-9657-9C401C039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88" y="6146800"/>
            <a:ext cx="17795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574D1-07AD-6A20-46E7-404BFC1CD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1DC366-CD55-D1A7-5BDF-94E8C9409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FA370A-0435-062D-89B8-8603D0B9D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F8E748FD-EDCE-49AC-A62A-D84BED7BCDB0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58371675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53E1F6-85DB-4AD6-7FF2-A78654260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E17513-B581-CDDF-839E-6B615037E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3D684D-0774-1AAC-DDC2-A6375BB6B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0D6F522C-A6AA-4DB8-8491-00BBC853973C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76161934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FD1461-3B59-0B52-99E9-4D1485D0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AE0402-0D13-5BA1-FAF3-FAB77771F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5775" y="1989138"/>
            <a:ext cx="4389438" cy="42211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8110F9-3474-F30C-1818-DBB36BD26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7613" y="1989138"/>
            <a:ext cx="4389437" cy="42211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9C52F8-F7DE-2B44-90BF-25C4C3A74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899B9D05-ED0F-4CE5-B593-D0A9A2B1451B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5847327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769649-85C2-4C4D-CDCE-BA761797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62B666-6C88-06CB-5797-19FF92E49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D58FAB-A810-1AD8-9128-7320A623E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68A6EB-6832-9025-EF97-CC1A2AB86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5B9766-75AC-6B2F-F6D9-04B2E948E4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89381F-68FD-5E71-5FC7-3BA8E49FC4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B98E4180-5613-495A-93F9-3E341EFBA993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14373836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6C60F-BB30-AB8D-7C30-142A6E41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6A94FEE-B416-AAD6-9140-ECDCC8BC5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5E4A6DEE-B964-49D8-885C-841453989F91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05597411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E24087-1F39-2CBA-E374-B2A9B10BA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B40A2B61-BA4B-42E5-983D-2E1188158F07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46266219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74246-FE01-9F2F-3604-B545A768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6D9847-4237-15B9-5383-3A2F2C4A7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FD1FDF-AA1D-B2E6-1771-60569B674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0D5C6A-DA2B-7F2F-4832-7BFCF7A2A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9558CF1D-1979-4F65-8E2C-D417915BBB9B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401966699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2FBABF-8164-9431-626C-57F3CB38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C8BB6D-F106-E27C-6908-7B1FC7A52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337836-8EB7-7DC9-34FC-4D3019616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01CAE8-70CA-54A7-AC48-6C73A84DD9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1A03A8EE-2768-4685-8193-DDE34D92D37B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04272501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5C272-E546-5C55-927B-924348AC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5C7E87-95CE-E390-D106-EDB01BAA4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C6240A-621E-D8B2-4BE0-04D2D8951E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E9960A2D-EDBC-4FA8-B659-2D149D3FFA19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0976987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940CD7A-FDF7-8153-2993-3EEEAA75D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85025" y="590550"/>
            <a:ext cx="2232025" cy="561975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AF6F11-8484-FEED-5E52-8D2605EEB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5775" y="590550"/>
            <a:ext cx="6546850" cy="56197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665CE-B3C9-2B68-8099-A9173A5C55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B410E8A5-F429-4E7C-937F-AE95B6FDD41C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93641741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제목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C4A06-A32F-F4F9-A662-0BA04C83A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90550"/>
            <a:ext cx="8928100" cy="730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차트 개체 틀 2">
            <a:extLst>
              <a:ext uri="{FF2B5EF4-FFF2-40B4-BE49-F238E27FC236}">
                <a16:creationId xmlns:a16="http://schemas.microsoft.com/office/drawing/2014/main" id="{0303F34A-C0E2-AF36-60E4-7E7060047E8D}"/>
              </a:ext>
            </a:extLst>
          </p:cNvPr>
          <p:cNvSpPr>
            <a:spLocks noGrp="1"/>
          </p:cNvSpPr>
          <p:nvPr>
            <p:ph type="chart" idx="1"/>
          </p:nvPr>
        </p:nvSpPr>
        <p:spPr>
          <a:xfrm>
            <a:off x="485775" y="1989138"/>
            <a:ext cx="8931275" cy="422116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E6073D-3962-CC80-0D8B-405186BFB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03688" y="6554788"/>
            <a:ext cx="1693862" cy="2698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3BB9B899-084F-4563-BE66-596F1EC51140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82896823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B1981-5256-9757-1080-36A047E4A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90550"/>
            <a:ext cx="8928100" cy="730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>
            <a:extLst>
              <a:ext uri="{FF2B5EF4-FFF2-40B4-BE49-F238E27FC236}">
                <a16:creationId xmlns:a16="http://schemas.microsoft.com/office/drawing/2014/main" id="{495F0D46-275A-A81F-0924-AD6F3EBE1180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85775" y="1989138"/>
            <a:ext cx="8931275" cy="422116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143DE4-1C2F-3BD0-F2F7-651F8D120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03688" y="6554788"/>
            <a:ext cx="1693862" cy="2698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01B2DA94-0AD5-43D7-9912-52026E452BF7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39571064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DDC75-3E5A-DC43-ACB7-76AE20424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90550"/>
            <a:ext cx="8928100" cy="730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0567F6-C8CE-CF80-711A-7A0ADD35D64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85775" y="1989138"/>
            <a:ext cx="4389438" cy="42211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F67445-F4B0-6876-C09D-DF4276A75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7613" y="1989138"/>
            <a:ext cx="4389437" cy="42211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5990FD-C20E-CA74-8739-3BE1FF2CC2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03688" y="6554788"/>
            <a:ext cx="1693862" cy="2698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- </a:t>
            </a:r>
            <a:fld id="{879E896F-841F-4CCB-88A4-EF4C7557CE52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63150600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2434" name="Rectangle 2">
            <a:extLst>
              <a:ext uri="{FF2B5EF4-FFF2-40B4-BE49-F238E27FC236}">
                <a16:creationId xmlns:a16="http://schemas.microsoft.com/office/drawing/2014/main" id="{A87403D6-5663-3811-41AE-E352E4BE5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gray">
          <a:xfrm>
            <a:off x="485775" y="1989138"/>
            <a:ext cx="8931275" cy="422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720" rIns="9000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Lv2</a:t>
            </a:r>
          </a:p>
          <a:p>
            <a:pPr lvl="2"/>
            <a:r>
              <a:rPr lang="en-US" altLang="ko-KR"/>
              <a:t>Lv3</a:t>
            </a:r>
          </a:p>
        </p:txBody>
      </p:sp>
      <p:sp>
        <p:nvSpPr>
          <p:cNvPr id="13202435" name="Rectangle 3">
            <a:extLst>
              <a:ext uri="{FF2B5EF4-FFF2-40B4-BE49-F238E27FC236}">
                <a16:creationId xmlns:a16="http://schemas.microsoft.com/office/drawing/2014/main" id="{909CCBC9-372D-FA14-F19A-607E737357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488950" y="590550"/>
            <a:ext cx="892810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3202436" name="Text Box 4">
            <a:extLst>
              <a:ext uri="{FF2B5EF4-FFF2-40B4-BE49-F238E27FC236}">
                <a16:creationId xmlns:a16="http://schemas.microsoft.com/office/drawing/2014/main" id="{A5968483-561E-3DEA-5087-9985132D0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963" y="6611938"/>
            <a:ext cx="2538412" cy="157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18000" rIns="54000" bIns="18000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altLang="ko-KR" sz="800" b="0">
                <a:cs typeface="Arial" panose="020B0604020202020204" pitchFamily="34" charset="0"/>
              </a:rPr>
              <a:t>© Insightgroup  2012   Confidential and Proprietary</a:t>
            </a:r>
          </a:p>
        </p:txBody>
      </p:sp>
      <p:sp>
        <p:nvSpPr>
          <p:cNvPr id="13202437" name="Rectangle 5">
            <a:extLst>
              <a:ext uri="{FF2B5EF4-FFF2-40B4-BE49-F238E27FC236}">
                <a16:creationId xmlns:a16="http://schemas.microsoft.com/office/drawing/2014/main" id="{0286D17C-16B1-5B3C-37E0-1776A6E1141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03688" y="6554788"/>
            <a:ext cx="1693862" cy="26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80000"/>
              </a:lnSpc>
              <a:spcBef>
                <a:spcPct val="0"/>
              </a:spcBef>
              <a:defRPr sz="900" b="0">
                <a:solidFill>
                  <a:srgbClr val="000000"/>
                </a:solidFill>
              </a:defRPr>
            </a:lvl1pPr>
          </a:lstStyle>
          <a:p>
            <a:r>
              <a:rPr lang="en-US" altLang="ko-KR"/>
              <a:t>- </a:t>
            </a:r>
            <a:fld id="{46EBC2A8-0D06-4780-BF89-6F51A29B5BC6}" type="slidenum">
              <a:rPr lang="en-US" altLang="ko-KR"/>
              <a:pPr/>
              <a:t>‹#›</a:t>
            </a:fld>
            <a:r>
              <a:rPr lang="en-US" altLang="ko-KR"/>
              <a:t> -</a:t>
            </a:r>
          </a:p>
        </p:txBody>
      </p:sp>
      <p:sp>
        <p:nvSpPr>
          <p:cNvPr id="13202439" name="Line 7">
            <a:extLst>
              <a:ext uri="{FF2B5EF4-FFF2-40B4-BE49-F238E27FC236}">
                <a16:creationId xmlns:a16="http://schemas.microsoft.com/office/drawing/2014/main" id="{23890F11-8970-CBFD-614A-CC9C1219A3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775" y="1362075"/>
            <a:ext cx="8931275" cy="0"/>
          </a:xfrm>
          <a:prstGeom prst="line">
            <a:avLst/>
          </a:prstGeom>
          <a:noFill/>
          <a:ln w="28575">
            <a:solidFill>
              <a:srgbClr val="31415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lIns="90000" tIns="18000" rIns="90000" bIns="18000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ransition/>
  <p:hf hdr="0" ftr="0" dt="0"/>
  <p:txStyles>
    <p:titleStyle>
      <a:lvl1pPr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defRPr kumimoji="1" sz="1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defRPr kumimoji="1"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굴림" panose="020B0600000101010101" pitchFamily="50" charset="-127"/>
        </a:defRPr>
      </a:lvl2pPr>
      <a:lvl3pPr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defRPr kumimoji="1"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굴림" panose="020B0600000101010101" pitchFamily="50" charset="-127"/>
        </a:defRPr>
      </a:lvl3pPr>
      <a:lvl4pPr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defRPr kumimoji="1"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굴림" panose="020B0600000101010101" pitchFamily="50" charset="-127"/>
        </a:defRPr>
      </a:lvl4pPr>
      <a:lvl5pPr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defRPr kumimoji="1"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굴림" panose="020B0600000101010101" pitchFamily="50" charset="-127"/>
        </a:defRPr>
      </a:lvl5pPr>
      <a:lvl6pPr marL="45720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defRPr kumimoji="1"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굴림" panose="020B0600000101010101" pitchFamily="50" charset="-127"/>
        </a:defRPr>
      </a:lvl6pPr>
      <a:lvl7pPr marL="91440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defRPr kumimoji="1"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굴림" panose="020B0600000101010101" pitchFamily="50" charset="-127"/>
        </a:defRPr>
      </a:lvl7pPr>
      <a:lvl8pPr marL="137160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defRPr kumimoji="1"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굴림" panose="020B0600000101010101" pitchFamily="50" charset="-127"/>
        </a:defRPr>
      </a:lvl8pPr>
      <a:lvl9pPr marL="182880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defRPr kumimoji="1"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굴림" panose="020B0600000101010101" pitchFamily="50" charset="-127"/>
        </a:defRPr>
      </a:lvl9pPr>
    </p:titleStyle>
    <p:bodyStyle>
      <a:lvl1pPr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544513" indent="-185738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7575" indent="-193675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3188" indent="-180975" algn="l" rtl="0" fontAlgn="base" latinLnBrk="1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SimSun" panose="02010600030101010101" pitchFamily="2" charset="-122"/>
        <a:buChar char="-"/>
        <a:defRPr kumimoji="1" sz="12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1698625" indent="-146050" algn="l" rtl="0" fontAlgn="base" latinLnBrk="1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kumimoji="1" sz="1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0E648E-8A4F-D394-E5BB-1E19ED5B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동영상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B113F9-462D-0260-9DF9-7D1369E79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dirty="0"/>
              <a:t>인력 계획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근무 적정성 모니터링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역량</a:t>
            </a:r>
            <a:r>
              <a:rPr lang="en-US" altLang="ko-KR" dirty="0"/>
              <a:t>/</a:t>
            </a:r>
            <a:r>
              <a:rPr lang="ko-KR" altLang="en-US" dirty="0"/>
              <a:t>스킬 모니터링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조직 및 리더십 진단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팀장 </a:t>
            </a:r>
            <a:r>
              <a:rPr lang="en-US" altLang="ko-KR" dirty="0"/>
              <a:t>AI Agent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임원 </a:t>
            </a:r>
            <a:r>
              <a:rPr lang="en-US" altLang="ko-KR" dirty="0"/>
              <a:t>AI Agent</a:t>
            </a:r>
          </a:p>
          <a:p>
            <a:pPr marL="342900" indent="-342900">
              <a:buAutoNum type="arabicPeriod"/>
            </a:pPr>
            <a:r>
              <a:rPr lang="en-US" altLang="ko-KR" dirty="0"/>
              <a:t>HR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  </a:t>
            </a:r>
            <a:r>
              <a:rPr lang="en-US" altLang="ko-KR" dirty="0"/>
              <a:t>Agent - </a:t>
            </a:r>
            <a:r>
              <a:rPr lang="ko-KR" altLang="en-US" dirty="0"/>
              <a:t>보상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BDE7F3-090F-3335-CF9F-CF5AC9694E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F8E748FD-EDCE-49AC-A62A-D84BED7BCDB0}" type="slidenum">
              <a:rPr lang="en-US" altLang="ko-KR" smtClean="0"/>
              <a:pPr/>
              <a:t>0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39550936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8960F-7506-1587-E6AD-E8F6CB3AA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CA748-7A89-1080-18F0-EEBC5F1A1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번 인력계획 앞에 사용한 </a:t>
            </a:r>
            <a:r>
              <a:rPr lang="en-US" altLang="ko-KR" dirty="0"/>
              <a:t>PPT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8CCB99-C918-0D90-9B0C-42DFCB825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F8E748FD-EDCE-49AC-A62A-D84BED7BCDB0}" type="slidenum">
              <a:rPr lang="en-US" altLang="ko-KR" smtClean="0"/>
              <a:pPr/>
              <a:t>1</a:t>
            </a:fld>
            <a:r>
              <a:rPr lang="en-US" altLang="ko-KR"/>
              <a:t> -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1587946-8F65-86DB-C93E-142D1ECEB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53064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06B1E41-0B29-4AD4-A007-1C1F7C4A5D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FCF216F7-339A-474E-991B-87759F8E9C5D}" type="slidenum">
              <a:rPr lang="en-US" altLang="ko-KR"/>
              <a:pPr/>
              <a:t>2</a:t>
            </a:fld>
            <a:r>
              <a:rPr lang="en-US" altLang="ko-KR"/>
              <a:t> -</a:t>
            </a:r>
          </a:p>
        </p:txBody>
      </p:sp>
      <p:sp>
        <p:nvSpPr>
          <p:cNvPr id="14897154" name="Rectangle 2">
            <a:extLst>
              <a:ext uri="{FF2B5EF4-FFF2-40B4-BE49-F238E27FC236}">
                <a16:creationId xmlns:a16="http://schemas.microsoft.com/office/drawing/2014/main" id="{C9D50AE6-D51D-1DEE-8A4F-6B68400B3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적정인원 산정은 ‘인력동인 분석’</a:t>
            </a:r>
            <a:r>
              <a:rPr lang="en-US" altLang="ko-KR" dirty="0"/>
              <a:t>, ‘</a:t>
            </a:r>
            <a:r>
              <a:rPr lang="ko-KR" altLang="en-US" dirty="0"/>
              <a:t>지불가능 인건비’</a:t>
            </a:r>
            <a:r>
              <a:rPr lang="en-US" altLang="ko-KR" dirty="0"/>
              <a:t>, ‘</a:t>
            </a:r>
            <a:r>
              <a:rPr lang="ko-KR" altLang="en-US" dirty="0"/>
              <a:t>고객 대비 </a:t>
            </a:r>
            <a:r>
              <a:rPr lang="ko-KR" altLang="en-US" dirty="0" err="1"/>
              <a:t>업무량’을</a:t>
            </a:r>
            <a:r>
              <a:rPr lang="ko-KR" altLang="en-US" dirty="0"/>
              <a:t> 종합하여 도출하며</a:t>
            </a:r>
            <a:r>
              <a:rPr lang="en-US" altLang="ko-KR" dirty="0"/>
              <a:t>, </a:t>
            </a:r>
            <a:r>
              <a:rPr lang="ko-KR" altLang="en-US" dirty="0"/>
              <a:t>도출된 인원을 원활히 운영가능한 인력구조를 도출함</a:t>
            </a:r>
          </a:p>
        </p:txBody>
      </p:sp>
      <p:sp>
        <p:nvSpPr>
          <p:cNvPr id="14897155" name="Text Box 3">
            <a:extLst>
              <a:ext uri="{FF2B5EF4-FFF2-40B4-BE49-F238E27FC236}">
                <a16:creationId xmlns:a16="http://schemas.microsoft.com/office/drawing/2014/main" id="{FAE36184-CB02-E567-872F-8D7DFCA43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438" y="2425700"/>
            <a:ext cx="3325812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6800" rIns="54000" bIns="46800">
            <a:spAutoFit/>
          </a:bodyPr>
          <a:lstStyle>
            <a:lvl1pPr marL="85725" indent="-8572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265113" indent="-74613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17575" indent="-1936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3188" indent="-1809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698625" indent="-1460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1558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130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0702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5274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fontAlgn="ctr" latinLnBrk="0">
              <a:spcBef>
                <a:spcPct val="30000"/>
              </a:spcBef>
              <a:buFontTx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인력동인 변수를 바탕으로 타 호텔 대비 효율적 인력운영을 위한 적정인원</a:t>
            </a:r>
          </a:p>
          <a:p>
            <a:pPr lvl="1" fontAlgn="ctr" latinLnBrk="0">
              <a:spcBef>
                <a:spcPct val="30000"/>
              </a:spcBef>
              <a:buFont typeface="맑은 고딕" panose="020B0503020000020004" pitchFamily="50" charset="-127"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 사 </a:t>
            </a:r>
            <a:r>
              <a:rPr lang="en-US" altLang="ko-KR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</a:t>
            </a: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회귀분석을 통해 </a:t>
            </a:r>
            <a:r>
              <a:rPr lang="ko-KR" altLang="en-US" sz="1100" b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워커힐</a:t>
            </a: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동인변수에 해당하는 적정인원 도출</a:t>
            </a:r>
          </a:p>
          <a:p>
            <a:pPr lvl="1" fontAlgn="ctr" latinLnBrk="0">
              <a:spcBef>
                <a:spcPct val="30000"/>
              </a:spcBef>
              <a:buFont typeface="맑은 고딕" panose="020B0503020000020004" pitchFamily="50" charset="-127"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객실 </a:t>
            </a:r>
            <a:r>
              <a:rPr lang="en-US" altLang="ko-KR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Sold Room, F&amp;B : Covers, </a:t>
            </a: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지원조직 </a:t>
            </a:r>
            <a:r>
              <a:rPr lang="en-US" altLang="ko-KR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관리인원 수</a:t>
            </a:r>
          </a:p>
        </p:txBody>
      </p:sp>
      <p:sp>
        <p:nvSpPr>
          <p:cNvPr id="14897156" name="Text Box 37">
            <a:extLst>
              <a:ext uri="{FF2B5EF4-FFF2-40B4-BE49-F238E27FC236}">
                <a16:creationId xmlns:a16="http://schemas.microsoft.com/office/drawing/2014/main" id="{44548F44-FA29-35EE-CADD-BC2D4E421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1386828"/>
            <a:ext cx="2133332" cy="272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>
            <a:spAutoFit/>
          </a:bodyPr>
          <a:lstStyle>
            <a:lvl1pPr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416050" indent="-609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205038" indent="-609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994025" indent="-609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783013" indent="-609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4240213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697413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5154613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611813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fontAlgn="ctr" latinLnBrk="0" hangingPunct="1">
              <a:spcBef>
                <a:spcPct val="50000"/>
              </a:spcBef>
            </a:pP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적정인원 산정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Framework</a:t>
            </a:r>
          </a:p>
        </p:txBody>
      </p:sp>
      <p:sp>
        <p:nvSpPr>
          <p:cNvPr id="14897157" name="Text Box 5">
            <a:extLst>
              <a:ext uri="{FF2B5EF4-FFF2-40B4-BE49-F238E27FC236}">
                <a16:creationId xmlns:a16="http://schemas.microsoft.com/office/drawing/2014/main" id="{035C974E-BF9B-EF6F-0AB7-45F5764B9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172326"/>
            <a:ext cx="1558687" cy="318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36000" tIns="36000" rIns="36000" bIns="36000" anchor="ctr">
            <a:spAutoFit/>
          </a:bodyPr>
          <a:lstStyle>
            <a:lvl1pPr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fontAlgn="t" latinLnBrk="0" hangingPunct="1">
              <a:spcBef>
                <a:spcPct val="50000"/>
              </a:spcBef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II.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적정인력 산정</a:t>
            </a:r>
          </a:p>
        </p:txBody>
      </p:sp>
      <p:sp>
        <p:nvSpPr>
          <p:cNvPr id="14897159" name="AutoShape 7">
            <a:extLst>
              <a:ext uri="{FF2B5EF4-FFF2-40B4-BE49-F238E27FC236}">
                <a16:creationId xmlns:a16="http://schemas.microsoft.com/office/drawing/2014/main" id="{385B741B-2B76-349E-333F-F7E5DED39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2925" y="1963738"/>
            <a:ext cx="3740150" cy="3233737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54000" tIns="46800" rIns="54000" bIns="46800" anchor="ctr"/>
          <a:lstStyle/>
          <a:p>
            <a:endParaRPr lang="ko-KR" altLang="en-US"/>
          </a:p>
        </p:txBody>
      </p:sp>
      <p:sp>
        <p:nvSpPr>
          <p:cNvPr id="14897161" name="AutoShape 9">
            <a:extLst>
              <a:ext uri="{FF2B5EF4-FFF2-40B4-BE49-F238E27FC236}">
                <a16:creationId xmlns:a16="http://schemas.microsoft.com/office/drawing/2014/main" id="{313FA695-A8A2-B2B5-B84B-E42EAD79D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2575" y="2132013"/>
            <a:ext cx="1722438" cy="1490662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2857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54000" tIns="46800" rIns="54000" bIns="46800" anchor="ctr"/>
          <a:lstStyle/>
          <a:p>
            <a:endParaRPr lang="ko-KR" altLang="en-US"/>
          </a:p>
        </p:txBody>
      </p:sp>
      <p:sp>
        <p:nvSpPr>
          <p:cNvPr id="14897162" name="AutoShape 10">
            <a:extLst>
              <a:ext uri="{FF2B5EF4-FFF2-40B4-BE49-F238E27FC236}">
                <a16:creationId xmlns:a16="http://schemas.microsoft.com/office/drawing/2014/main" id="{03A51317-257F-DC43-8FDE-B6EB6C149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3622675"/>
            <a:ext cx="1722437" cy="1490663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2857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54000" tIns="46800" rIns="54000" bIns="46800" anchor="ctr"/>
          <a:lstStyle/>
          <a:p>
            <a:endParaRPr lang="ko-KR" altLang="en-US"/>
          </a:p>
        </p:txBody>
      </p:sp>
      <p:sp>
        <p:nvSpPr>
          <p:cNvPr id="14897163" name="AutoShape 11">
            <a:extLst>
              <a:ext uri="{FF2B5EF4-FFF2-40B4-BE49-F238E27FC236}">
                <a16:creationId xmlns:a16="http://schemas.microsoft.com/office/drawing/2014/main" id="{8DD3E3FC-52AB-9098-3AFD-5A2A34116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563" y="3622675"/>
            <a:ext cx="1724025" cy="1490663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2857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54000" tIns="46800" rIns="54000" bIns="46800" anchor="ctr"/>
          <a:lstStyle/>
          <a:p>
            <a:endParaRPr lang="ko-KR" altLang="en-US"/>
          </a:p>
        </p:txBody>
      </p:sp>
      <p:sp>
        <p:nvSpPr>
          <p:cNvPr id="14897164" name="AutoShape 12">
            <a:extLst>
              <a:ext uri="{FF2B5EF4-FFF2-40B4-BE49-F238E27FC236}">
                <a16:creationId xmlns:a16="http://schemas.microsoft.com/office/drawing/2014/main" id="{B14C2360-ED55-61F7-0BAD-5BD2C7A5069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092575" y="3622675"/>
            <a:ext cx="1722438" cy="1490663"/>
          </a:xfrm>
          <a:prstGeom prst="triangle">
            <a:avLst>
              <a:gd name="adj" fmla="val 50000"/>
            </a:avLst>
          </a:prstGeom>
          <a:solidFill>
            <a:schemeClr val="folHlink"/>
          </a:solidFill>
          <a:ln w="2857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54000" tIns="46800" rIns="54000" bIns="46800" anchor="ctr"/>
          <a:lstStyle/>
          <a:p>
            <a:endParaRPr lang="ko-KR" altLang="en-US"/>
          </a:p>
        </p:txBody>
      </p:sp>
      <p:sp>
        <p:nvSpPr>
          <p:cNvPr id="14897165" name="Text Box 13">
            <a:extLst>
              <a:ext uri="{FF2B5EF4-FFF2-40B4-BE49-F238E27FC236}">
                <a16:creationId xmlns:a16="http://schemas.microsoft.com/office/drawing/2014/main" id="{97F1DD3D-AF5A-7C23-B5C8-6A10F076E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825" y="4040188"/>
            <a:ext cx="7683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54000" tIns="46800" rIns="54000" bIns="46800">
            <a:spAutoFit/>
          </a:bodyPr>
          <a:lstStyle>
            <a:lvl1pPr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44513" indent="-185738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17575" indent="-1936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3188" indent="-1809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698625" indent="-1460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1558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130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0702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5274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ctr" latinLnBrk="0">
              <a:spcBef>
                <a:spcPct val="30000"/>
              </a:spcBef>
              <a:buFont typeface="맑은 고딕" panose="020B0503020000020004" pitchFamily="50" charset="-127"/>
              <a:buNone/>
            </a:pP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적정</a:t>
            </a:r>
            <a:b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인력구조</a:t>
            </a:r>
          </a:p>
        </p:txBody>
      </p:sp>
      <p:sp>
        <p:nvSpPr>
          <p:cNvPr id="14897166" name="Oval 14">
            <a:extLst>
              <a:ext uri="{FF2B5EF4-FFF2-40B4-BE49-F238E27FC236}">
                <a16:creationId xmlns:a16="http://schemas.microsoft.com/office/drawing/2014/main" id="{DAA2E19F-BFD6-770C-B267-38DE82EE0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2733675"/>
            <a:ext cx="228600" cy="228600"/>
          </a:xfrm>
          <a:prstGeom prst="ellipse">
            <a:avLst/>
          </a:prstGeom>
          <a:solidFill>
            <a:schemeClr val="tx2"/>
          </a:solidFill>
          <a:ln w="15875" algn="ctr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marL="74613" indent="-74613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44513" indent="-185738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17575" indent="-1936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3188" indent="-1809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698625" indent="-1460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1558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130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0702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5274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ctr" latinLnBrk="0">
              <a:spcBef>
                <a:spcPct val="30000"/>
              </a:spcBef>
              <a:buFont typeface="맑은 고딕" panose="020B0503020000020004" pitchFamily="50" charset="-127"/>
              <a:buNone/>
            </a:pPr>
            <a:r>
              <a:rPr lang="en-US" altLang="ko-KR" sz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sp>
        <p:nvSpPr>
          <p:cNvPr id="14897167" name="Text Box 15">
            <a:extLst>
              <a:ext uri="{FF2B5EF4-FFF2-40B4-BE49-F238E27FC236}">
                <a16:creationId xmlns:a16="http://schemas.microsoft.com/office/drawing/2014/main" id="{1B58486E-2BDB-5D05-8EB8-A0105C3F0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825" y="2987675"/>
            <a:ext cx="7683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54000" tIns="46800" rIns="54000" bIns="46800">
            <a:spAutoFit/>
          </a:bodyPr>
          <a:lstStyle>
            <a:lvl1pPr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44513" indent="-185738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17575" indent="-1936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3188" indent="-1809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698625" indent="-1460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1558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130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0702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5274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ctr" latinLnBrk="0">
              <a:spcBef>
                <a:spcPct val="30000"/>
              </a:spcBef>
              <a:buFont typeface="맑은 고딕" panose="020B0503020000020004" pitchFamily="50" charset="-127"/>
              <a:buNone/>
            </a:pPr>
            <a:r>
              <a:rPr lang="ko-KR" altLang="en-US" sz="13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인력동인</a:t>
            </a:r>
            <a:br>
              <a:rPr lang="ko-KR" altLang="en-US" sz="13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</a:p>
        </p:txBody>
      </p:sp>
      <p:sp>
        <p:nvSpPr>
          <p:cNvPr id="14897168" name="Text Box 16">
            <a:extLst>
              <a:ext uri="{FF2B5EF4-FFF2-40B4-BE49-F238E27FC236}">
                <a16:creationId xmlns:a16="http://schemas.microsoft.com/office/drawing/2014/main" id="{4C47D5B6-DAEB-8D8B-185E-0B0BA3405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950" y="4410075"/>
            <a:ext cx="8270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54000" tIns="46800" rIns="54000" bIns="46800">
            <a:spAutoFit/>
          </a:bodyPr>
          <a:lstStyle>
            <a:lvl1pPr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44513" indent="-185738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17575" indent="-1936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3188" indent="-1809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698625" indent="-1460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1558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130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0702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5274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ctr" latinLnBrk="0">
              <a:spcBef>
                <a:spcPct val="30000"/>
              </a:spcBef>
              <a:buFont typeface="맑은 고딕" panose="020B0503020000020004" pitchFamily="50" charset="-127"/>
              <a:buNone/>
            </a:pPr>
            <a:r>
              <a:rPr lang="ko-KR" altLang="en-US" sz="13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대비</a:t>
            </a:r>
            <a:br>
              <a:rPr lang="ko-KR" altLang="en-US" sz="13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업무량</a:t>
            </a:r>
          </a:p>
        </p:txBody>
      </p:sp>
      <p:sp>
        <p:nvSpPr>
          <p:cNvPr id="14897169" name="Text Box 17">
            <a:extLst>
              <a:ext uri="{FF2B5EF4-FFF2-40B4-BE49-F238E27FC236}">
                <a16:creationId xmlns:a16="http://schemas.microsoft.com/office/drawing/2014/main" id="{0B90775E-9CA2-4EAA-189C-E708E7083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075" y="4410075"/>
            <a:ext cx="7683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54000" tIns="46800" rIns="54000" bIns="46800">
            <a:spAutoFit/>
          </a:bodyPr>
          <a:lstStyle>
            <a:lvl1pPr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44513" indent="-185738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17575" indent="-1936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3188" indent="-1809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698625" indent="-1460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1558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130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0702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5274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ctr" latinLnBrk="0">
              <a:spcBef>
                <a:spcPct val="30000"/>
              </a:spcBef>
              <a:buFont typeface="맑은 고딕" panose="020B0503020000020004" pitchFamily="50" charset="-127"/>
              <a:buNone/>
            </a:pPr>
            <a:r>
              <a:rPr lang="ko-KR" altLang="en-US" sz="13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지불가능</a:t>
            </a:r>
            <a:br>
              <a:rPr lang="ko-KR" altLang="en-US" sz="13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인건비</a:t>
            </a:r>
          </a:p>
        </p:txBody>
      </p:sp>
      <p:sp>
        <p:nvSpPr>
          <p:cNvPr id="14897170" name="Oval 18">
            <a:extLst>
              <a:ext uri="{FF2B5EF4-FFF2-40B4-BE49-F238E27FC236}">
                <a16:creationId xmlns:a16="http://schemas.microsoft.com/office/drawing/2014/main" id="{4F907EFE-3F0C-379B-0435-42543F835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821113"/>
            <a:ext cx="228600" cy="228600"/>
          </a:xfrm>
          <a:prstGeom prst="ellipse">
            <a:avLst/>
          </a:prstGeom>
          <a:solidFill>
            <a:schemeClr val="tx2"/>
          </a:solidFill>
          <a:ln w="15875" algn="ctr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marL="74613" indent="-74613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44513" indent="-185738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17575" indent="-1936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3188" indent="-1809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698625" indent="-1460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1558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130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0702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5274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ctr" latinLnBrk="0">
              <a:spcBef>
                <a:spcPct val="30000"/>
              </a:spcBef>
              <a:buFont typeface="맑은 고딕" panose="020B0503020000020004" pitchFamily="50" charset="-127"/>
              <a:buNone/>
            </a:pPr>
            <a:r>
              <a:rPr lang="en-US" altLang="ko-KR" sz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</a:p>
        </p:txBody>
      </p:sp>
      <p:sp>
        <p:nvSpPr>
          <p:cNvPr id="14897171" name="Oval 19">
            <a:extLst>
              <a:ext uri="{FF2B5EF4-FFF2-40B4-BE49-F238E27FC236}">
                <a16:creationId xmlns:a16="http://schemas.microsoft.com/office/drawing/2014/main" id="{7092DA03-3FD0-1D34-BDF4-49BAA98CE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4200525"/>
            <a:ext cx="228600" cy="228600"/>
          </a:xfrm>
          <a:prstGeom prst="ellipse">
            <a:avLst/>
          </a:prstGeom>
          <a:solidFill>
            <a:schemeClr val="tx2"/>
          </a:solidFill>
          <a:ln w="15875" algn="ctr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marL="74613" indent="-74613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44513" indent="-185738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17575" indent="-1936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3188" indent="-1809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698625" indent="-1460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1558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130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0702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5274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ctr" latinLnBrk="0">
              <a:spcBef>
                <a:spcPct val="30000"/>
              </a:spcBef>
              <a:buFont typeface="맑은 고딕" panose="020B0503020000020004" pitchFamily="50" charset="-127"/>
              <a:buNone/>
            </a:pPr>
            <a:r>
              <a:rPr lang="en-US" altLang="ko-KR" sz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14897172" name="Oval 20">
            <a:extLst>
              <a:ext uri="{FF2B5EF4-FFF2-40B4-BE49-F238E27FC236}">
                <a16:creationId xmlns:a16="http://schemas.microsoft.com/office/drawing/2014/main" id="{7BBAE15D-4C9F-C954-903E-EE49AC510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975" y="4200525"/>
            <a:ext cx="228600" cy="228600"/>
          </a:xfrm>
          <a:prstGeom prst="ellipse">
            <a:avLst/>
          </a:prstGeom>
          <a:solidFill>
            <a:schemeClr val="tx2"/>
          </a:solidFill>
          <a:ln w="15875" algn="ctr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marL="74613" indent="-74613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44513" indent="-185738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17575" indent="-1936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3188" indent="-1809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698625" indent="-1460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1558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130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0702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5274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ctr" latinLnBrk="0">
              <a:spcBef>
                <a:spcPct val="30000"/>
              </a:spcBef>
              <a:buFont typeface="맑은 고딕" panose="020B0503020000020004" pitchFamily="50" charset="-127"/>
              <a:buNone/>
            </a:pPr>
            <a:r>
              <a:rPr lang="en-US" altLang="ko-KR" sz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grpSp>
        <p:nvGrpSpPr>
          <p:cNvPr id="14897173" name="Group 21">
            <a:extLst>
              <a:ext uri="{FF2B5EF4-FFF2-40B4-BE49-F238E27FC236}">
                <a16:creationId xmlns:a16="http://schemas.microsoft.com/office/drawing/2014/main" id="{1B813F99-3316-CBD0-AAC7-DEEEB96CDC74}"/>
              </a:ext>
            </a:extLst>
          </p:cNvPr>
          <p:cNvGrpSpPr>
            <a:grpSpLocks/>
          </p:cNvGrpSpPr>
          <p:nvPr/>
        </p:nvGrpSpPr>
        <p:grpSpPr bwMode="auto">
          <a:xfrm>
            <a:off x="5218113" y="2562225"/>
            <a:ext cx="655637" cy="447675"/>
            <a:chOff x="755" y="3652"/>
            <a:chExt cx="326" cy="222"/>
          </a:xfrm>
        </p:grpSpPr>
        <p:sp>
          <p:nvSpPr>
            <p:cNvPr id="14897174" name="Line 22">
              <a:extLst>
                <a:ext uri="{FF2B5EF4-FFF2-40B4-BE49-F238E27FC236}">
                  <a16:creationId xmlns:a16="http://schemas.microsoft.com/office/drawing/2014/main" id="{187F8D66-159A-4242-08C9-7AE7B44BD9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" y="3652"/>
              <a:ext cx="0" cy="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/>
            <a:lstStyle/>
            <a:p>
              <a:endParaRPr lang="ko-KR" altLang="en-US"/>
            </a:p>
          </p:txBody>
        </p:sp>
        <p:sp>
          <p:nvSpPr>
            <p:cNvPr id="14897175" name="Line 23">
              <a:extLst>
                <a:ext uri="{FF2B5EF4-FFF2-40B4-BE49-F238E27FC236}">
                  <a16:creationId xmlns:a16="http://schemas.microsoft.com/office/drawing/2014/main" id="{8E190C7A-1D0E-61CA-9D60-49E9DD469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5" y="3652"/>
              <a:ext cx="3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/>
            <a:lstStyle/>
            <a:p>
              <a:endParaRPr lang="ko-KR" altLang="en-US"/>
            </a:p>
          </p:txBody>
        </p:sp>
      </p:grpSp>
      <p:sp>
        <p:nvSpPr>
          <p:cNvPr id="14897176" name="Text Box 24">
            <a:extLst>
              <a:ext uri="{FF2B5EF4-FFF2-40B4-BE49-F238E27FC236}">
                <a16:creationId xmlns:a16="http://schemas.microsoft.com/office/drawing/2014/main" id="{75F7F460-B0EE-0B6D-1826-4F01BA63D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3350" y="3863975"/>
            <a:ext cx="2774950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6800" rIns="54000" bIns="46800">
            <a:spAutoFit/>
          </a:bodyPr>
          <a:lstStyle>
            <a:lvl1pPr marL="85725" indent="-8572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265113" indent="-74613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17575" indent="-1936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3188" indent="-1809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698625" indent="-1460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1558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130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0702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5274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fontAlgn="ctr" latinLnBrk="0">
              <a:spcBef>
                <a:spcPct val="30000"/>
              </a:spcBef>
              <a:buFontTx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재무관점에서 목표 </a:t>
            </a: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GOP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달성하기 위한 지불가능 한 인건비</a:t>
            </a:r>
          </a:p>
          <a:p>
            <a:pPr lvl="1" fontAlgn="ctr" latinLnBrk="0">
              <a:spcBef>
                <a:spcPct val="30000"/>
              </a:spcBef>
              <a:buFont typeface="맑은 고딕" panose="020B0503020000020004" pitchFamily="50" charset="-127"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지불가능 인건비 범위 내에서 인력 충원 </a:t>
            </a:r>
          </a:p>
          <a:p>
            <a:pPr lvl="1" fontAlgn="ctr" latinLnBrk="0">
              <a:spcBef>
                <a:spcPct val="30000"/>
              </a:spcBef>
              <a:buFont typeface="맑은 고딕" panose="020B0503020000020004" pitchFamily="50" charset="-127"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전사 </a:t>
            </a:r>
            <a:r>
              <a:rPr lang="en-US" altLang="ko-KR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Target 25%</a:t>
            </a:r>
            <a:endParaRPr lang="en-US" altLang="ko-KR" sz="1100" b="0" baseline="30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97177" name="Text Box 25">
            <a:extLst>
              <a:ext uri="{FF2B5EF4-FFF2-40B4-BE49-F238E27FC236}">
                <a16:creationId xmlns:a16="http://schemas.microsoft.com/office/drawing/2014/main" id="{64C1AA3F-B19D-439D-EC10-FDE17CD10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1363" y="5564188"/>
            <a:ext cx="3343275" cy="661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6800" rIns="54000" bIns="46800">
            <a:spAutoFit/>
          </a:bodyPr>
          <a:lstStyle>
            <a:lvl1pPr marL="85725" indent="-8572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265113" indent="-74613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17575" indent="-1936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3188" indent="-1809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698625" indent="-1460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1558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130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0702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5274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fontAlgn="ctr" latinLnBrk="0">
              <a:spcBef>
                <a:spcPct val="30000"/>
              </a:spcBef>
              <a:buFontTx/>
              <a:buChar char="•"/>
            </a:pP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원활한 업무수행을 위한 적정 인력구조</a:t>
            </a:r>
          </a:p>
          <a:p>
            <a:pPr lvl="1" fontAlgn="ctr" latinLnBrk="0">
              <a:spcBef>
                <a:spcPct val="30000"/>
              </a:spcBef>
              <a:buFont typeface="맑은 고딕" panose="020B0503020000020004" pitchFamily="50" charset="-127"/>
              <a:buChar char="-"/>
            </a:pPr>
            <a:r>
              <a:rPr lang="ko-KR" altLang="en-US" sz="11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11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Process, </a:t>
            </a:r>
            <a:r>
              <a:rPr lang="ko-KR" altLang="en-US" sz="11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근무 </a:t>
            </a:r>
            <a:r>
              <a:rPr lang="en-US" altLang="ko-KR" sz="11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Schedule, </a:t>
            </a:r>
            <a:r>
              <a:rPr lang="ko-KR" altLang="en-US" sz="11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타사 인력구조 분석을 통해 도출</a:t>
            </a:r>
          </a:p>
        </p:txBody>
      </p:sp>
      <p:sp>
        <p:nvSpPr>
          <p:cNvPr id="14897178" name="Text Box 26">
            <a:extLst>
              <a:ext uri="{FF2B5EF4-FFF2-40B4-BE49-F238E27FC236}">
                <a16:creationId xmlns:a16="http://schemas.microsoft.com/office/drawing/2014/main" id="{65FCCBD5-26DD-D594-B131-C5F7B6E7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3" y="3876675"/>
            <a:ext cx="2774950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6800" rIns="54000" bIns="46800">
            <a:spAutoFit/>
          </a:bodyPr>
          <a:lstStyle>
            <a:lvl1pPr marL="85725" indent="-8572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265113" indent="-74613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17575" indent="-1936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3188" indent="-180975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698625" indent="-1460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1558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6130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0702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527425" indent="-146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fontAlgn="ctr" latinLnBrk="0">
              <a:spcBef>
                <a:spcPct val="30000"/>
              </a:spcBef>
              <a:buFontTx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업무량 관점에서 매장별 고객에게 서비스를 제공하기 위한 적정인원</a:t>
            </a:r>
          </a:p>
          <a:p>
            <a:pPr lvl="1" fontAlgn="ctr" latinLnBrk="0">
              <a:spcBef>
                <a:spcPct val="30000"/>
              </a:spcBef>
              <a:buFont typeface="맑은 고딕" panose="020B0503020000020004" pitchFamily="50" charset="-127"/>
              <a:buChar char="-"/>
            </a:pPr>
            <a:r>
              <a:rPr lang="ko-KR" altLang="en-US" sz="1100" b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고객수</a:t>
            </a: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대비 투입된 업무량</a:t>
            </a:r>
            <a:r>
              <a:rPr lang="en-US" altLang="ko-KR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(FTE)</a:t>
            </a: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비교하여 효율적 운영 가능한 적정인원 도출</a:t>
            </a:r>
          </a:p>
          <a:p>
            <a:pPr lvl="1" fontAlgn="ctr" latinLnBrk="0">
              <a:spcBef>
                <a:spcPct val="30000"/>
              </a:spcBef>
              <a:buFont typeface="맑은 고딕" panose="020B0503020000020004" pitchFamily="50" charset="-127"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파트별 업무량에 따라 적정인원 산정 기준 도출 </a:t>
            </a:r>
            <a:r>
              <a:rPr lang="en-US" altLang="ko-KR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r>
              <a:rPr lang="en-US" altLang="ko-KR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안정</a:t>
            </a:r>
            <a:r>
              <a:rPr lang="en-US" altLang="ko-KR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효율</a:t>
            </a:r>
            <a:r>
              <a:rPr lang="en-US" altLang="ko-KR" sz="11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grpSp>
        <p:nvGrpSpPr>
          <p:cNvPr id="14897180" name="Group 28">
            <a:extLst>
              <a:ext uri="{FF2B5EF4-FFF2-40B4-BE49-F238E27FC236}">
                <a16:creationId xmlns:a16="http://schemas.microsoft.com/office/drawing/2014/main" id="{44DCC73F-70F7-8960-E4E8-F11E0A1F34CA}"/>
              </a:ext>
            </a:extLst>
          </p:cNvPr>
          <p:cNvGrpSpPr>
            <a:grpSpLocks/>
          </p:cNvGrpSpPr>
          <p:nvPr/>
        </p:nvGrpSpPr>
        <p:grpSpPr bwMode="auto">
          <a:xfrm>
            <a:off x="5959475" y="4003675"/>
            <a:ext cx="509588" cy="428625"/>
            <a:chOff x="755" y="3652"/>
            <a:chExt cx="326" cy="222"/>
          </a:xfrm>
        </p:grpSpPr>
        <p:sp>
          <p:nvSpPr>
            <p:cNvPr id="14897181" name="Line 29">
              <a:extLst>
                <a:ext uri="{FF2B5EF4-FFF2-40B4-BE49-F238E27FC236}">
                  <a16:creationId xmlns:a16="http://schemas.microsoft.com/office/drawing/2014/main" id="{C13FDB0E-F45E-22E0-25BE-639CC3ACB8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" y="3652"/>
              <a:ext cx="0" cy="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/>
            <a:lstStyle/>
            <a:p>
              <a:endParaRPr lang="ko-KR" altLang="en-US"/>
            </a:p>
          </p:txBody>
        </p:sp>
        <p:sp>
          <p:nvSpPr>
            <p:cNvPr id="14897182" name="Line 30">
              <a:extLst>
                <a:ext uri="{FF2B5EF4-FFF2-40B4-BE49-F238E27FC236}">
                  <a16:creationId xmlns:a16="http://schemas.microsoft.com/office/drawing/2014/main" id="{B7590EAA-AB22-06DD-8AA6-A945204AA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5" y="3652"/>
              <a:ext cx="3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/>
            <a:lstStyle/>
            <a:p>
              <a:endParaRPr lang="ko-KR" altLang="en-US"/>
            </a:p>
          </p:txBody>
        </p:sp>
      </p:grpSp>
      <p:grpSp>
        <p:nvGrpSpPr>
          <p:cNvPr id="14897183" name="Group 31">
            <a:extLst>
              <a:ext uri="{FF2B5EF4-FFF2-40B4-BE49-F238E27FC236}">
                <a16:creationId xmlns:a16="http://schemas.microsoft.com/office/drawing/2014/main" id="{D40AE74D-905C-1950-C87B-15754D26B4E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321050" y="4003675"/>
            <a:ext cx="509588" cy="428625"/>
            <a:chOff x="755" y="3652"/>
            <a:chExt cx="326" cy="222"/>
          </a:xfrm>
        </p:grpSpPr>
        <p:sp>
          <p:nvSpPr>
            <p:cNvPr id="14897184" name="Line 32">
              <a:extLst>
                <a:ext uri="{FF2B5EF4-FFF2-40B4-BE49-F238E27FC236}">
                  <a16:creationId xmlns:a16="http://schemas.microsoft.com/office/drawing/2014/main" id="{DCD1DDC3-D284-D413-3609-21D339F17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" y="3652"/>
              <a:ext cx="0" cy="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/>
            <a:lstStyle/>
            <a:p>
              <a:endParaRPr lang="ko-KR" altLang="en-US"/>
            </a:p>
          </p:txBody>
        </p:sp>
        <p:sp>
          <p:nvSpPr>
            <p:cNvPr id="14897185" name="Line 33">
              <a:extLst>
                <a:ext uri="{FF2B5EF4-FFF2-40B4-BE49-F238E27FC236}">
                  <a16:creationId xmlns:a16="http://schemas.microsoft.com/office/drawing/2014/main" id="{C467ABC0-824E-F44A-33F2-1C6E6DD55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5" y="3652"/>
              <a:ext cx="3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/>
            <a:lstStyle/>
            <a:p>
              <a:endParaRPr lang="ko-KR" altLang="en-US"/>
            </a:p>
          </p:txBody>
        </p:sp>
      </p:grpSp>
      <p:grpSp>
        <p:nvGrpSpPr>
          <p:cNvPr id="14897186" name="Group 34">
            <a:extLst>
              <a:ext uri="{FF2B5EF4-FFF2-40B4-BE49-F238E27FC236}">
                <a16:creationId xmlns:a16="http://schemas.microsoft.com/office/drawing/2014/main" id="{832C96F8-8FB0-D915-7B3F-413E2474A50E}"/>
              </a:ext>
            </a:extLst>
          </p:cNvPr>
          <p:cNvGrpSpPr>
            <a:grpSpLocks/>
          </p:cNvGrpSpPr>
          <p:nvPr/>
        </p:nvGrpSpPr>
        <p:grpSpPr bwMode="auto">
          <a:xfrm>
            <a:off x="3365500" y="4660900"/>
            <a:ext cx="1587500" cy="927100"/>
            <a:chOff x="2299" y="2936"/>
            <a:chExt cx="821" cy="584"/>
          </a:xfrm>
        </p:grpSpPr>
        <p:grpSp>
          <p:nvGrpSpPr>
            <p:cNvPr id="14897187" name="Group 35">
              <a:extLst>
                <a:ext uri="{FF2B5EF4-FFF2-40B4-BE49-F238E27FC236}">
                  <a16:creationId xmlns:a16="http://schemas.microsoft.com/office/drawing/2014/main" id="{FEA087A9-A33C-600D-D7BC-C29EF15E0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9" y="3355"/>
              <a:ext cx="821" cy="165"/>
              <a:chOff x="2299" y="3355"/>
              <a:chExt cx="821" cy="165"/>
            </a:xfrm>
          </p:grpSpPr>
          <p:sp>
            <p:nvSpPr>
              <p:cNvPr id="14897188" name="Line 36">
                <a:extLst>
                  <a:ext uri="{FF2B5EF4-FFF2-40B4-BE49-F238E27FC236}">
                    <a16:creationId xmlns:a16="http://schemas.microsoft.com/office/drawing/2014/main" id="{35735278-BEA3-127A-946B-092DC17C52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9" y="3355"/>
                <a:ext cx="0" cy="1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46800" rIns="54000" bIns="46800"/>
              <a:lstStyle/>
              <a:p>
                <a:endParaRPr lang="ko-KR" altLang="en-US"/>
              </a:p>
            </p:txBody>
          </p:sp>
          <p:sp>
            <p:nvSpPr>
              <p:cNvPr id="14897189" name="Line 37">
                <a:extLst>
                  <a:ext uri="{FF2B5EF4-FFF2-40B4-BE49-F238E27FC236}">
                    <a16:creationId xmlns:a16="http://schemas.microsoft.com/office/drawing/2014/main" id="{E3EF4EC3-681F-220E-022F-67D5A3368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9" y="3355"/>
                <a:ext cx="8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46800" rIns="54000" bIns="46800"/>
              <a:lstStyle/>
              <a:p>
                <a:endParaRPr lang="ko-KR" altLang="en-US"/>
              </a:p>
            </p:txBody>
          </p:sp>
        </p:grpSp>
        <p:sp>
          <p:nvSpPr>
            <p:cNvPr id="14897190" name="Line 38">
              <a:extLst>
                <a:ext uri="{FF2B5EF4-FFF2-40B4-BE49-F238E27FC236}">
                  <a16:creationId xmlns:a16="http://schemas.microsoft.com/office/drawing/2014/main" id="{6B12A520-DF2E-4096-2AA3-1D55FE174B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936"/>
              <a:ext cx="0" cy="4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/>
            <a:lstStyle/>
            <a:p>
              <a:endParaRPr lang="ko-KR" altLang="en-US"/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7F339F2-427B-5BE8-6B8D-D8959A3D1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CDA9C65A-D80C-4DA0-84D2-D83E6277A286}" type="slidenum">
              <a:rPr lang="en-US" altLang="ko-KR"/>
              <a:pPr/>
              <a:t>3</a:t>
            </a:fld>
            <a:r>
              <a:rPr lang="en-US" altLang="ko-KR"/>
              <a:t> -</a:t>
            </a:r>
          </a:p>
        </p:txBody>
      </p:sp>
      <p:sp>
        <p:nvSpPr>
          <p:cNvPr id="14903298" name="Rectangle 2">
            <a:extLst>
              <a:ext uri="{FF2B5EF4-FFF2-40B4-BE49-F238E27FC236}">
                <a16:creationId xmlns:a16="http://schemas.microsoft.com/office/drawing/2014/main" id="{05BD65D8-FD15-2B34-631B-CF16584050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객실 적정인원 산정결과 </a:t>
            </a:r>
            <a:r>
              <a:rPr lang="en-US" altLang="ko-KR"/>
              <a:t>129</a:t>
            </a:r>
            <a:r>
              <a:rPr lang="ko-KR" altLang="en-US"/>
              <a:t>명 중 </a:t>
            </a:r>
            <a:r>
              <a:rPr lang="en-US" altLang="ko-KR"/>
              <a:t>6</a:t>
            </a:r>
            <a:r>
              <a:rPr lang="ko-KR" altLang="en-US"/>
              <a:t>명을 감축해야 하는 것으로 나타남</a:t>
            </a:r>
          </a:p>
        </p:txBody>
      </p:sp>
      <p:sp>
        <p:nvSpPr>
          <p:cNvPr id="14903299" name="Text Box 37">
            <a:extLst>
              <a:ext uri="{FF2B5EF4-FFF2-40B4-BE49-F238E27FC236}">
                <a16:creationId xmlns:a16="http://schemas.microsoft.com/office/drawing/2014/main" id="{E37AF392-34BD-A202-EE7E-52AE49D7B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1387475"/>
            <a:ext cx="2538413" cy="27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>
            <a:spAutoFit/>
          </a:bodyPr>
          <a:lstStyle>
            <a:lvl1pPr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416050" indent="-609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205038" indent="-609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994025" indent="-609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783013" indent="-609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4240213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697413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5154613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611813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fontAlgn="ctr" latinLnBrk="0" hangingPunct="1">
              <a:spcBef>
                <a:spcPct val="50000"/>
              </a:spcBef>
            </a:pPr>
            <a:r>
              <a:rPr lang="ko-KR" altLang="en-US" sz="130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적정인원 산정결과 종합 </a:t>
            </a:r>
            <a:r>
              <a:rPr lang="en-US" altLang="ko-KR" sz="130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– </a:t>
            </a:r>
            <a:r>
              <a:rPr lang="ko-KR" altLang="en-US" sz="130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객실팀</a:t>
            </a:r>
          </a:p>
        </p:txBody>
      </p:sp>
      <p:graphicFrame>
        <p:nvGraphicFramePr>
          <p:cNvPr id="14903434" name="Group 138">
            <a:extLst>
              <a:ext uri="{FF2B5EF4-FFF2-40B4-BE49-F238E27FC236}">
                <a16:creationId xmlns:a16="http://schemas.microsoft.com/office/drawing/2014/main" id="{8767BC48-8C1A-5163-994B-59947261C7B9}"/>
              </a:ext>
            </a:extLst>
          </p:cNvPr>
          <p:cNvGraphicFramePr>
            <a:graphicFrameLocks noGrp="1"/>
          </p:cNvGraphicFramePr>
          <p:nvPr/>
        </p:nvGraphicFramePr>
        <p:xfrm>
          <a:off x="487363" y="1773238"/>
          <a:ext cx="8931275" cy="4580179"/>
        </p:xfrm>
        <a:graphic>
          <a:graphicData uri="http://schemas.openxmlformats.org/drawingml/2006/table">
            <a:tbl>
              <a:tblPr/>
              <a:tblGrid>
                <a:gridCol w="1139825">
                  <a:extLst>
                    <a:ext uri="{9D8B030D-6E8A-4147-A177-3AD203B41FA5}">
                      <a16:colId xmlns:a16="http://schemas.microsoft.com/office/drawing/2014/main" val="4151484587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932838163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1233513127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3025242590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768460846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879642472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820398207"/>
                    </a:ext>
                  </a:extLst>
                </a:gridCol>
              </a:tblGrid>
              <a:tr h="173038">
                <a:tc rowSpan="2"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업장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파트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As-is 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현원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적정인원 분석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To-be 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적정인원</a:t>
                      </a:r>
                      <a:r>
                        <a:rPr kumimoji="1" lang="en-US" altLang="ko-KR" sz="12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6063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인력동인 분석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고객대비 업무량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지불가능 인건비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030563"/>
                  </a:ext>
                </a:extLst>
              </a:tr>
              <a:tr h="366713">
                <a:tc rowSpan="8"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객실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객실팀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123(-6)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8"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110(-5)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83187"/>
                  </a:ext>
                </a:extLst>
              </a:tr>
              <a:tr h="366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고객지원센터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19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17(-2)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17(-2)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989835"/>
                  </a:ext>
                </a:extLst>
              </a:tr>
              <a:tr h="366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프론트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21(-2)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21(-2)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459073"/>
                  </a:ext>
                </a:extLst>
              </a:tr>
              <a:tr h="366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Club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978843"/>
                  </a:ext>
                </a:extLst>
              </a:tr>
              <a:tr h="366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더글라스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610136"/>
                  </a:ext>
                </a:extLst>
              </a:tr>
              <a:tr h="366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Bell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24(-2)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24(-2)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913891"/>
                  </a:ext>
                </a:extLst>
              </a:tr>
              <a:tr h="366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객실정비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17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17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17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11870"/>
                  </a:ext>
                </a:extLst>
              </a:tr>
              <a:tr h="366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Duty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874146"/>
                  </a:ext>
                </a:extLst>
              </a:tr>
              <a:tr h="366713"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헬쓰장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헬쓰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449518"/>
                  </a:ext>
                </a:extLst>
              </a:tr>
              <a:tr h="366713"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사우나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사우나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421633"/>
                  </a:ext>
                </a:extLst>
              </a:tr>
              <a:tr h="366713">
                <a:tc gridSpan="2"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합계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777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129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123(-6)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123(-6)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124(-5)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3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1pPr>
                      <a:lvl2pPr marL="742950" indent="-28575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2pPr>
                      <a:lvl3pPr marL="1143000" indent="-228600" algn="l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1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defRPr>
                      </a:lvl3pPr>
                      <a:lvl4pPr marL="16002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SimSun" panose="02010600030101010101" pitchFamily="2" charset="-122"/>
                        <a:tabLst>
                          <a:tab pos="1028700" algn="l"/>
                        </a:tabLs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4pPr>
                      <a:lvl5pPr marL="2057400" indent="-228600" algn="l" latinLnBrk="1">
                        <a:lnSpc>
                          <a:spcPct val="104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5pPr>
                      <a:lvl6pPr marL="25146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6pPr>
                      <a:lvl7pPr marL="29718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7pPr>
                      <a:lvl8pPr marL="34290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8pPr>
                      <a:lvl9pPr marL="3886200" indent="-228600" fontAlgn="base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10287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8700" algn="l"/>
                        </a:tabLst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123(-6)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304106"/>
                  </a:ext>
                </a:extLst>
              </a:tr>
            </a:tbl>
          </a:graphicData>
        </a:graphic>
      </p:graphicFrame>
      <p:sp>
        <p:nvSpPr>
          <p:cNvPr id="14903436" name="Text Box 140">
            <a:extLst>
              <a:ext uri="{FF2B5EF4-FFF2-40B4-BE49-F238E27FC236}">
                <a16:creationId xmlns:a16="http://schemas.microsoft.com/office/drawing/2014/main" id="{49765725-B166-B660-3538-A8650BB21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172326"/>
            <a:ext cx="1630822" cy="318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36000" tIns="36000" rIns="36000" bIns="36000" anchor="ctr">
            <a:spAutoFit/>
          </a:bodyPr>
          <a:lstStyle>
            <a:lvl1pPr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fontAlgn="t" latinLnBrk="0" hangingPunct="1">
              <a:spcBef>
                <a:spcPct val="50000"/>
              </a:spcBef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II.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적정인력 산정</a:t>
            </a:r>
          </a:p>
        </p:txBody>
      </p:sp>
      <p:sp>
        <p:nvSpPr>
          <p:cNvPr id="14903438" name="Rectangle 142">
            <a:extLst>
              <a:ext uri="{FF2B5EF4-FFF2-40B4-BE49-F238E27FC236}">
                <a16:creationId xmlns:a16="http://schemas.microsoft.com/office/drawing/2014/main" id="{41E5C789-9560-E26D-CC31-2C4B25995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6345238"/>
            <a:ext cx="73898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54000" tIns="46800" rIns="54000" bIns="46800">
            <a:spAutoFit/>
          </a:bodyPr>
          <a:lstStyle>
            <a:lvl1pPr marL="176213" indent="-176213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081088" indent="-4572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717675" indent="-4572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354263" indent="-4572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990850" indent="-457200" algn="l" latinLnBrk="1">
              <a:spcBef>
                <a:spcPct val="0"/>
              </a:spcBef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44805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90525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36245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81965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buFont typeface="맑은 고딕" panose="020B0503020000020004" pitchFamily="50" charset="-127"/>
              <a:buAutoNum type="arabicParenR"/>
            </a:pPr>
            <a:r>
              <a:rPr kumimoji="0"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</a:rPr>
              <a:t>인력동인 및 지불가능 인건비 분석을 통해 도출된 보유 가능 인원 범위 내에서 업무량 분석을 통한 파트별 적정인원을 산정함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IG">
  <a:themeElements>
    <a:clrScheme name="1_IG 2">
      <a:dk1>
        <a:srgbClr val="000000"/>
      </a:dk1>
      <a:lt1>
        <a:srgbClr val="FFFFFF"/>
      </a:lt1>
      <a:dk2>
        <a:srgbClr val="000000"/>
      </a:dk2>
      <a:lt2>
        <a:srgbClr val="727272"/>
      </a:lt2>
      <a:accent1>
        <a:srgbClr val="314152"/>
      </a:accent1>
      <a:accent2>
        <a:srgbClr val="4B6487"/>
      </a:accent2>
      <a:accent3>
        <a:srgbClr val="FFFFFF"/>
      </a:accent3>
      <a:accent4>
        <a:srgbClr val="000000"/>
      </a:accent4>
      <a:accent5>
        <a:srgbClr val="ADB0B3"/>
      </a:accent5>
      <a:accent6>
        <a:srgbClr val="435A7A"/>
      </a:accent6>
      <a:hlink>
        <a:srgbClr val="527D94"/>
      </a:hlink>
      <a:folHlink>
        <a:srgbClr val="96BEC8"/>
      </a:folHlink>
    </a:clrScheme>
    <a:fontScheme name="1_IG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54000" tIns="46800" rIns="54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54000" tIns="46800" rIns="54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  <a:cs typeface="Arial" panose="020B0604020202020204" pitchFamily="34" charset="0"/>
          </a:defRPr>
        </a:defPPr>
      </a:lstStyle>
    </a:lnDef>
  </a:objectDefaults>
  <a:extraClrSchemeLst>
    <a:extraClrScheme>
      <a:clrScheme name="1_IG 1">
        <a:dk1>
          <a:srgbClr val="000000"/>
        </a:dk1>
        <a:lt1>
          <a:srgbClr val="FFFFFF"/>
        </a:lt1>
        <a:dk2>
          <a:srgbClr val="000000"/>
        </a:dk2>
        <a:lt2>
          <a:srgbClr val="727272"/>
        </a:lt2>
        <a:accent1>
          <a:srgbClr val="96BEC8"/>
        </a:accent1>
        <a:accent2>
          <a:srgbClr val="4B6487"/>
        </a:accent2>
        <a:accent3>
          <a:srgbClr val="FFFFFF"/>
        </a:accent3>
        <a:accent4>
          <a:srgbClr val="000000"/>
        </a:accent4>
        <a:accent5>
          <a:srgbClr val="C9DBE0"/>
        </a:accent5>
        <a:accent6>
          <a:srgbClr val="435A7A"/>
        </a:accent6>
        <a:hlink>
          <a:srgbClr val="314152"/>
        </a:hlink>
        <a:folHlink>
          <a:srgbClr val="527D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G 2">
        <a:dk1>
          <a:srgbClr val="000000"/>
        </a:dk1>
        <a:lt1>
          <a:srgbClr val="FFFFFF"/>
        </a:lt1>
        <a:dk2>
          <a:srgbClr val="000000"/>
        </a:dk2>
        <a:lt2>
          <a:srgbClr val="727272"/>
        </a:lt2>
        <a:accent1>
          <a:srgbClr val="314152"/>
        </a:accent1>
        <a:accent2>
          <a:srgbClr val="4B6487"/>
        </a:accent2>
        <a:accent3>
          <a:srgbClr val="FFFFFF"/>
        </a:accent3>
        <a:accent4>
          <a:srgbClr val="000000"/>
        </a:accent4>
        <a:accent5>
          <a:srgbClr val="ADB0B3"/>
        </a:accent5>
        <a:accent6>
          <a:srgbClr val="435A7A"/>
        </a:accent6>
        <a:hlink>
          <a:srgbClr val="527D94"/>
        </a:hlink>
        <a:folHlink>
          <a:srgbClr val="96BEC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B8C8331EB912F429C102AA54154534F" ma:contentTypeVersion="3" ma:contentTypeDescription="새 문서를 만듭니다." ma:contentTypeScope="" ma:versionID="1fbab6e562c99c0c8ae34c67b9b3d901">
  <xsd:schema xmlns:xsd="http://www.w3.org/2001/XMLSchema" xmlns:xs="http://www.w3.org/2001/XMLSchema" xmlns:p="http://schemas.microsoft.com/office/2006/metadata/properties" xmlns:ns2="822fed12-73fe-4c40-899d-2dd96fbc3235" targetNamespace="http://schemas.microsoft.com/office/2006/metadata/properties" ma:root="true" ma:fieldsID="1204563939f6a9b8ac8a7500da125d62" ns2:_="">
    <xsd:import namespace="822fed12-73fe-4c40-899d-2dd96fbc32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2fed12-73fe-4c40-899d-2dd96fbc32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A6B78D-4C6B-4CA3-BB6B-F11AB7B9C3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2fed12-73fe-4c40-899d-2dd96fbc32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1EDC45C-4F9A-485F-8F45-3E649FC172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01269C-0765-42EE-84DD-C6BE30D212A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237988</TotalTime>
  <Words>347</Words>
  <Application>Microsoft Office PowerPoint</Application>
  <PresentationFormat>A4 용지(210x297mm)</PresentationFormat>
  <Paragraphs>100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SimSun</vt:lpstr>
      <vt:lpstr>굴림</vt:lpstr>
      <vt:lpstr>맑은 고딕</vt:lpstr>
      <vt:lpstr>Arial</vt:lpstr>
      <vt:lpstr>Wingdings</vt:lpstr>
      <vt:lpstr>1_IG</vt:lpstr>
      <vt:lpstr>동영상 순서</vt:lpstr>
      <vt:lpstr>1번 인력계획 앞에 사용한 PPT</vt:lpstr>
      <vt:lpstr>적정인원 산정은 ‘인력동인 분석’, ‘지불가능 인건비’, ‘고객 대비 업무량’을 종합하여 도출하며, 도출된 인원을 원활히 운영가능한 인력구조를 도출함</vt:lpstr>
      <vt:lpstr>객실 적정인원 산정결과 129명 중 6명을 감축해야 하는 것으로 나타남</vt:lpstr>
    </vt:vector>
  </TitlesOfParts>
  <Company>Insightgroup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subject/>
  <dc:creator>Insightgroup</dc:creator>
  <cp:lastModifiedBy>오승훈대표</cp:lastModifiedBy>
  <cp:revision>26810</cp:revision>
  <cp:lastPrinted>2025-06-10T08:08:12Z</cp:lastPrinted>
  <dcterms:created xsi:type="dcterms:W3CDTF">2003-02-12T07:47:39Z</dcterms:created>
  <dcterms:modified xsi:type="dcterms:W3CDTF">2026-05-04T07:09:16Z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0x0101007B8C8331EB912F429C102AA54154534F</vt:lpwstr>
  </property>
</Properties>
</file>